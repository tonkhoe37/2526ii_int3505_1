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Inter SemiBold"/>
      <p:regular r:id="rId22"/>
      <p:bold r:id="rId23"/>
      <p:italic r:id="rId24"/>
      <p:boldItalic r:id="rId25"/>
    </p:embeddedFont>
    <p:embeddedFont>
      <p:font typeface="Inter"/>
      <p:regular r:id="rId26"/>
      <p:bold r:id="rId27"/>
      <p:italic r:id="rId28"/>
      <p:boldItalic r:id="rId29"/>
    </p:embeddedFont>
    <p:embeddedFont>
      <p:font typeface="Inter Medium"/>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1C36EBE-E20A-4936-B9F0-920A7353A307}">
  <a:tblStyle styleId="{71C36EBE-E20A-4936-B9F0-920A7353A307}"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InterSemiBold-regular.fntdata"/><Relationship Id="rId21" Type="http://schemas.openxmlformats.org/officeDocument/2006/relationships/slide" Target="slides/slide15.xml"/><Relationship Id="rId24" Type="http://schemas.openxmlformats.org/officeDocument/2006/relationships/font" Target="fonts/InterSemiBold-italic.fntdata"/><Relationship Id="rId23" Type="http://schemas.openxmlformats.org/officeDocument/2006/relationships/font" Target="fonts/Inter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nter-regular.fntdata"/><Relationship Id="rId25" Type="http://schemas.openxmlformats.org/officeDocument/2006/relationships/font" Target="fonts/InterSemiBold-boldItalic.fntdata"/><Relationship Id="rId28" Type="http://schemas.openxmlformats.org/officeDocument/2006/relationships/font" Target="fonts/Inter-italic.fntdata"/><Relationship Id="rId27" Type="http://schemas.openxmlformats.org/officeDocument/2006/relationships/font" Target="fonts/Inter-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nter-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nterMedium-bold.fntdata"/><Relationship Id="rId30" Type="http://schemas.openxmlformats.org/officeDocument/2006/relationships/font" Target="fonts/InterMedium-regular.fntdata"/><Relationship Id="rId11" Type="http://schemas.openxmlformats.org/officeDocument/2006/relationships/slide" Target="slides/slide5.xml"/><Relationship Id="rId33" Type="http://schemas.openxmlformats.org/officeDocument/2006/relationships/font" Target="fonts/InterMedium-boldItalic.fntdata"/><Relationship Id="rId10" Type="http://schemas.openxmlformats.org/officeDocument/2006/relationships/slide" Target="slides/slide4.xml"/><Relationship Id="rId32" Type="http://schemas.openxmlformats.org/officeDocument/2006/relationships/font" Target="fonts/InterMedium-italic.fnt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Chào mọi người, hôm nay chúng ta sẽ tìm hiểu về API Specification — cách "viết tài liệu" cho API một cách chuyên nghiệp và chuẩn hóa. Ở các buổi trước, chúng ta đã biết REST API, HTTP methods, status codes, và API Design. Hôm nay, chúng ta sẽ học cách mô tả API đó bằng một chuẩn quốc tế — OpenAPI</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Hãy tưởng tượng bạn là frontend dev, backend gửi cho bạn API mà không có tài liệu. Bạn phải hỏi: "Endpoint nào? Gửi body gì? Trả về status code gì?" — rất mất thời gian. Tài liệu API giải quyết tất cả vấn đề này. Và OpenAPI chính là cách viết tài liệu đó theo một chuẩn chung mà cả máy lẫn người đều đọc được.</a:t>
            </a:r>
            <a:endParaRPr/>
          </a:p>
        </p:txBody>
      </p:sp>
      <p:sp>
        <p:nvSpPr>
          <p:cNvPr id="111" name="Google Shape;11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API Specification giống như bản vẽ kỹ thuật. Thay vì mô tả bằng lời, ta dùng một format chuẩn để máy tính cũng đọc hiểu được. Hiện nay OpenAPI (trước gọi là Swagger) là chuẩn phổ biến nhất, được dùng bởi Google, Microsoft, Amazon...</a:t>
            </a:r>
            <a:endParaRPr/>
          </a:p>
        </p:txBody>
      </p:sp>
      <p:sp>
        <p:nvSpPr>
          <p:cNvPr id="142" name="Google Shape;142;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Một sai lầm phổ biến là dùng "Swagger" để chỉ cả specification. Thật ra Swagger giờ là tên bộ công cụ, còn chuẩn spec gọi là OpenAPI. Nhưng vì lý do lịch sử, nhiều người vẫn gọi là Swagger spec. Các bạn nhớ phân biệt nhé. Và điểm mạnh nhất: từ 1 file OpenAPI, ta có thể tự động tạo tài liệu, generate code, validate — rất tiết kiệm thời gian.</a:t>
            </a:r>
            <a:endParaRPr/>
          </a:p>
        </p:txBody>
      </p:sp>
      <p:sp>
        <p:nvSpPr>
          <p:cNvPr id="171" name="Google Shape;17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Đây là bức tranh tổng quan. File OpenAPI dù dài hay ngắn đều có 4 phần chính này. Phần quan trọng nhất là `paths` — nơi ta khai báo từng endpoint. Và `components` giúp ta tái sử dụng schema, tránh copy-paste. Giờ mình sẽ đi sâu vào từng phần.</a:t>
            </a:r>
            <a:endParaRPr/>
          </a:p>
        </p:txBody>
      </p:sp>
      <p:sp>
        <p:nvSpPr>
          <p:cNvPr id="206" name="Google Shape;2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Phần `info` khá đơn giản — chỉ cần tên, mô tả, và version. Phần `servers` cho phép khai báo nhiều môi trường. Khi mở Swagger UI, người dùng có thể chọn server nào để test. Rất tiện khi bạn có cả môi trường dev và production.</a:t>
            </a:r>
            <a:endParaRPr/>
          </a:p>
        </p:txBody>
      </p:sp>
      <p:sp>
        <p:nvSpPr>
          <p:cNvPr id="225" name="Google Shape;225;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Đây là phần core. Mỗi endpoint cần khai báo: method (get/post/put/delete), summary, và responses. Lưu ý `$ref` — đây là cách tham chiếu đến schema đã định nghĩa ở `components`, giúp ta không phải lặp lại cấu trúc Book ở nhiều chỗ. `operationId` rất quan trọng khi bạn dùng codegen để tạo client SDK tự động. `tags` giúp nhóm các endpoint liên quan gọn gàng trên Swagger UI.</a:t>
            </a:r>
            <a:endParaRPr/>
          </a:p>
        </p:txBody>
      </p:sp>
      <p:sp>
        <p:nvSpPr>
          <p:cNvPr id="239" name="Google Shape;23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OpenAPI phân biệt 3 loại parameter chính. Path parameter bắt buộc phải có (`required: true`) vì nó nằm trong URL. Query parameter thường optional, dùng để filter/sort. Header parameter ít gặp hơn nhưng quan trọng khi cần truyền token, request ID. Lưu ý cách viết `in: path`, `in: query`, `in: header` — đây là keyword cố định.</a:t>
            </a:r>
            <a:endParaRPr/>
          </a:p>
        </p:txBody>
      </p:sp>
      <p:sp>
        <p:nvSpPr>
          <p:cNvPr id="260" name="Google Shape;26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`requestBody` chỉ dùng cho POST và PUT — những method cần gửi dữ liệu lên. Lưu ý ta dùng `$ref` để tham chiếu schema thay vì viết trực tiếp. Phần `example` rất hữu ích — nó sẽ hiển thị trên Swagger UI để người đọc biết body trông như thế nào. Về responses, mỗi endpoint nên khai báo cả trường hợp thành công và lỗi. Đừng chỉ khai báo 200 OK mà quên 404, 422.</a:t>
            </a:r>
            <a:endParaRPr/>
          </a:p>
        </p:txBody>
      </p:sp>
      <p:sp>
        <p:nvSpPr>
          <p:cNvPr id="283" name="Google Shape;28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Đây là best practice quan trọng. Thay vì copy-paste schema ở mỗi endpoint, ta định nghĩa 1 lần trong `components/schemas` rồi dùng `$ref` để tham chiếu. Khi cần thay đổi, chỉ sửa 1 chỗ. Lưu ý ta tách `Book` và `BookCreate` — vì khi tạo mới, client không gửi `id` (server tự sinh), nhưng khi trả về thì có `id`. Đây là pattern rất phổ biến trong thực tế.</a:t>
            </a:r>
            <a:endParaRPr/>
          </a:p>
        </p:txBody>
      </p:sp>
      <p:sp>
        <p:nvSpPr>
          <p:cNvPr id="313" name="Google Shape;31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Giờ mình sẽ mở file `openapi.yaml` đầy đủ để mọi người xem. File này khai báo đầy đủ 5 endpoints cho API quản lý sách. Các bạn chú ý cách tổ chức: `paths` chứa 2 path (`/books` và `/books/{id}`), mỗi path có các method tương ứng. `components/schemas` chứa 2 schema: `Book` và `BookCreate`. Toàn bộ file khoảng 150 dòng YAML — không quá dài nhưng mô tả đầy đủ API.</a:t>
            </a:r>
            <a:endParaRPr/>
          </a:p>
        </p:txBody>
      </p:sp>
      <p:sp>
        <p:nvSpPr>
          <p:cNvPr id="331" name="Google Shape;33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d7b23413f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1200"/>
              </a:spcAft>
              <a:buNone/>
            </a:pPr>
            <a:r>
              <a:rPr i="1" lang="en-US" sz="1000">
                <a:solidFill>
                  <a:srgbClr val="555555"/>
                </a:solidFill>
              </a:rPr>
              <a:t>Giờ mình sẽ mở file `openapi.yaml` đầy đủ để mọi người xem. File này khai báo đầy đủ 5 endpoints cho API quản lý sách. Các bạn chú ý cách tổ chức: `paths` chứa 2 path (`/books` và `/books/{id}`), mỗi path có các method tương ứng. `components/schemas` chứa 2 schema: `Book` và `BookCreate`. Toàn bộ file khoảng 150 dòng YAML — không quá dài nhưng mô tả đầy đủ API.</a:t>
            </a:r>
            <a:endParaRPr/>
          </a:p>
        </p:txBody>
      </p:sp>
      <p:sp>
        <p:nvSpPr>
          <p:cNvPr id="355" name="Google Shape;355;g3d7b23413f9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0"/>
              </a:spcAft>
              <a:buClr>
                <a:schemeClr val="dk1"/>
              </a:buClr>
              <a:buSzPts val="1100"/>
              <a:buFont typeface="Arial"/>
              <a:buNone/>
            </a:pPr>
            <a:r>
              <a:rPr i="1" lang="en-US" sz="1000">
                <a:solidFill>
                  <a:srgbClr val="555555"/>
                </a:solidFill>
              </a:rPr>
              <a:t>Đây là điều tuyệt vời của FastAPI — nó TỰ ĐỘNG sinh OpenAPI spec từ code Python của bạn. Khi bạn chạy server, vào `/docs` sẽ thấy Swagger UI hoàn chỉnh, có thể test API ngay trên trình duyệt. `/redoc` cho tài liệu đẹp hơn dạng đọc. `/openapi.json` cho raw spec — file này bạn có thể import vào Postman. Giờ mình sẽ demo trực tiếp.</a:t>
            </a:r>
            <a:endParaRPr i="1" sz="1000">
              <a:solidFill>
                <a:srgbClr val="555555"/>
              </a:solidFill>
            </a:endParaRPr>
          </a:p>
          <a:p>
            <a:pPr indent="0" lvl="0" marL="355600" rtl="0" algn="l">
              <a:lnSpc>
                <a:spcPct val="115000"/>
              </a:lnSpc>
              <a:spcBef>
                <a:spcPts val="1200"/>
              </a:spcBef>
              <a:spcAft>
                <a:spcPts val="0"/>
              </a:spcAft>
              <a:buClr>
                <a:schemeClr val="dk1"/>
              </a:buClr>
              <a:buSzPts val="1100"/>
              <a:buFont typeface="Arial"/>
              <a:buNone/>
            </a:pPr>
            <a:r>
              <a:rPr b="1" lang="en-US" sz="1000">
                <a:solidFill>
                  <a:schemeClr val="dk1"/>
                </a:solidFill>
              </a:rPr>
              <a:t>[Mở terminal → chạy server → mở browser localhost:8000/docs]</a:t>
            </a:r>
            <a:endParaRPr b="1" sz="1000">
              <a:solidFill>
                <a:schemeClr val="dk1"/>
              </a:solidFill>
            </a:endParaRPr>
          </a:p>
          <a:p>
            <a:pPr indent="0" lvl="0" marL="355600" rtl="0" algn="l">
              <a:lnSpc>
                <a:spcPct val="115000"/>
              </a:lnSpc>
              <a:spcBef>
                <a:spcPts val="1200"/>
              </a:spcBef>
              <a:spcAft>
                <a:spcPts val="1200"/>
              </a:spcAft>
              <a:buNone/>
            </a:pPr>
            <a:r>
              <a:rPr i="1" lang="en-US" sz="1000">
                <a:solidFill>
                  <a:srgbClr val="555555"/>
                </a:solidFill>
              </a:rPr>
              <a:t>Các bạn thấy không? Chỉ cần viết code Python bình thường, FastAPI tự tạo cả tài liệu API. Đây là lý do FastAPI rất phổ biến cho việc xây dựng API.</a:t>
            </a:r>
            <a:endParaRPr/>
          </a:p>
        </p:txBody>
      </p:sp>
      <p:sp>
        <p:nvSpPr>
          <p:cNvPr id="364" name="Google Shape;36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2100"/>
              </a:spcBef>
              <a:spcAft>
                <a:spcPts val="0"/>
              </a:spcAft>
              <a:buClr>
                <a:schemeClr val="dk1"/>
              </a:buClr>
              <a:buSzPts val="1100"/>
              <a:buFont typeface="Arial"/>
              <a:buNone/>
            </a:pPr>
            <a:r>
              <a:rPr b="1" i="1" lang="en-US" sz="1000">
                <a:solidFill>
                  <a:srgbClr val="555555"/>
                </a:solidFill>
              </a:rPr>
              <a:t>Ngoài Swagger UI, bạn có thể import file OpenAPI vào Postman. Postman sẽ tự tạo collection với đầy đủ endpoints, body, parameters. Rất tiện khi bạn cần test API một cách có hệ thống. Các bước rất đơn giản: mở Postman → Import → paste URL hoặc chọn file → xong.</a:t>
            </a:r>
            <a:endParaRPr b="1" i="1" sz="1000">
              <a:solidFill>
                <a:srgbClr val="555555"/>
              </a:solidFill>
            </a:endParaRPr>
          </a:p>
          <a:p>
            <a:pPr indent="0" lvl="0" marL="355600" rtl="0" algn="l">
              <a:lnSpc>
                <a:spcPct val="115000"/>
              </a:lnSpc>
              <a:spcBef>
                <a:spcPts val="2100"/>
              </a:spcBef>
              <a:spcAft>
                <a:spcPts val="2100"/>
              </a:spcAft>
              <a:buNone/>
            </a:pPr>
            <a:r>
              <a:rPr b="1" lang="en-US" sz="1000">
                <a:solidFill>
                  <a:schemeClr val="dk1"/>
                </a:solidFill>
              </a:rPr>
              <a:t>[Mở Postman → Import → paste http://localhost:8000/openapi.json → Show collection]</a:t>
            </a:r>
            <a:endParaRPr/>
          </a:p>
        </p:txBody>
      </p:sp>
      <p:sp>
        <p:nvSpPr>
          <p:cNvPr id="371" name="Google Shape;37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355600" rtl="0" algn="l">
              <a:lnSpc>
                <a:spcPct val="115000"/>
              </a:lnSpc>
              <a:spcBef>
                <a:spcPts val="1200"/>
              </a:spcBef>
              <a:spcAft>
                <a:spcPts val="0"/>
              </a:spcAft>
              <a:buClr>
                <a:schemeClr val="dk1"/>
              </a:buClr>
              <a:buSzPts val="1100"/>
              <a:buFont typeface="Arial"/>
              <a:buNone/>
            </a:pPr>
            <a:r>
              <a:rPr i="1" lang="en-US" sz="1000">
                <a:solidFill>
                  <a:srgbClr val="555555"/>
                </a:solidFill>
              </a:rPr>
              <a:t>Tổng kết lại, hôm nay chúng ta đã học cách viết tài liệu API theo chuẩn OpenAPI. Điểm mấu chốt: viết spec 1 lần → dùng cho tài liệu, testing, code generation. FastAPI làm việc này tự động. Các bạn về nhà có thể thử viết OpenAPI spec cho API khác, hoặc dùng Swagger Editor online để luyện tập. Cảm ơn mọi người!</a:t>
            </a:r>
            <a:endParaRPr i="1" sz="1000">
              <a:solidFill>
                <a:srgbClr val="555555"/>
              </a:solidFill>
            </a:endParaRPr>
          </a:p>
          <a:p>
            <a:pPr indent="0" lvl="0" marL="0" rtl="0" algn="l">
              <a:spcBef>
                <a:spcPts val="1200"/>
              </a:spcBef>
              <a:spcAft>
                <a:spcPts val="0"/>
              </a:spcAft>
              <a:buNone/>
            </a:pPr>
            <a:r>
              <a:t/>
            </a:r>
            <a:endParaRPr/>
          </a:p>
        </p:txBody>
      </p:sp>
      <p:sp>
        <p:nvSpPr>
          <p:cNvPr id="394" name="Google Shape;39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0.png"/><Relationship Id="rId4" Type="http://schemas.openxmlformats.org/officeDocument/2006/relationships/image" Target="../media/image15.png"/><Relationship Id="rId5" Type="http://schemas.openxmlformats.org/officeDocument/2006/relationships/image" Target="../media/image4.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3.png"/><Relationship Id="rId5" Type="http://schemas.openxmlformats.org/officeDocument/2006/relationships/image" Target="../media/image7.png"/><Relationship Id="rId6" Type="http://schemas.openxmlformats.org/officeDocument/2006/relationships/image" Target="../media/image5.png"/><Relationship Id="rId7"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3.png"/><Relationship Id="rId6" Type="http://schemas.openxmlformats.org/officeDocument/2006/relationships/image" Target="../media/image6.png"/></Relationships>
</file>

<file path=ppt/slides/_rels/slide4.xml.rels><?xml version="1.0" encoding="UTF-8" standalone="yes"?><Relationships xmlns="http://schemas.openxmlformats.org/package/2006/relationships"><Relationship Id="rId11" Type="http://schemas.openxmlformats.org/officeDocument/2006/relationships/image" Target="../media/image11.png"/><Relationship Id="rId10" Type="http://schemas.openxmlformats.org/officeDocument/2006/relationships/image" Target="../media/image8.png"/><Relationship Id="rId13" Type="http://schemas.openxmlformats.org/officeDocument/2006/relationships/image" Target="../media/image17.png"/><Relationship Id="rId12" Type="http://schemas.openxmlformats.org/officeDocument/2006/relationships/image" Target="../media/image22.png"/><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4.png"/><Relationship Id="rId4" Type="http://schemas.openxmlformats.org/officeDocument/2006/relationships/image" Target="../media/image16.png"/><Relationship Id="rId9"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1.png"/><Relationship Id="rId7" Type="http://schemas.openxmlformats.org/officeDocument/2006/relationships/image" Target="../media/image23.png"/><Relationship Id="rId8"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4.png"/><Relationship Id="rId4" Type="http://schemas.openxmlformats.org/officeDocument/2006/relationships/image" Target="../media/image24.png"/><Relationship Id="rId5" Type="http://schemas.openxmlformats.org/officeDocument/2006/relationships/image" Target="../media/image2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3.png"/><Relationship Id="rId4" Type="http://schemas.openxmlformats.org/officeDocument/2006/relationships/image" Target="../media/image28.png"/><Relationship Id="rId5" Type="http://schemas.openxmlformats.org/officeDocument/2006/relationships/image" Target="../media/image4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5.png"/></Relationships>
</file>

<file path=ppt/slides/_rels/slide10.xml.rels><?xml version="1.0" encoding="UTF-8" standalone="yes"?><Relationships xmlns="http://schemas.openxmlformats.org/package/2006/relationships"><Relationship Id="rId10" Type="http://schemas.openxmlformats.org/officeDocument/2006/relationships/image" Target="../media/image26.png"/><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 Id="rId4" Type="http://schemas.openxmlformats.org/officeDocument/2006/relationships/image" Target="../media/image39.png"/><Relationship Id="rId9" Type="http://schemas.openxmlformats.org/officeDocument/2006/relationships/image" Target="../media/image24.png"/><Relationship Id="rId5" Type="http://schemas.openxmlformats.org/officeDocument/2006/relationships/image" Target="../media/image32.png"/><Relationship Id="rId6" Type="http://schemas.openxmlformats.org/officeDocument/2006/relationships/image" Target="../media/image30.png"/><Relationship Id="rId7" Type="http://schemas.openxmlformats.org/officeDocument/2006/relationships/image" Target="../media/image29.png"/><Relationship Id="rId8"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8.png"/><Relationship Id="rId4" Type="http://schemas.openxmlformats.org/officeDocument/2006/relationships/image" Target="../media/image3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6.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0.png"/><Relationship Id="rId4" Type="http://schemas.openxmlformats.org/officeDocument/2006/relationships/image" Target="../media/image44.png"/><Relationship Id="rId5" Type="http://schemas.openxmlformats.org/officeDocument/2006/relationships/image" Target="../media/image42.png"/><Relationship Id="rId6"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1706900" y="2228851"/>
            <a:ext cx="4236700" cy="1959425"/>
          </a:xfrm>
          <a:prstGeom prst="rect">
            <a:avLst/>
          </a:prstGeom>
          <a:noFill/>
          <a:ln>
            <a:noFill/>
          </a:ln>
        </p:spPr>
      </p:pic>
      <p:pic>
        <p:nvPicPr>
          <p:cNvPr descr="image.png" id="85" name="Google Shape;85;p13"/>
          <p:cNvPicPr preferRelativeResize="0"/>
          <p:nvPr/>
        </p:nvPicPr>
        <p:blipFill rotWithShape="1">
          <a:blip r:embed="rId3">
            <a:alphaModFix/>
          </a:blip>
          <a:srcRect b="0" l="0" r="0" t="0"/>
          <a:stretch/>
        </p:blipFill>
        <p:spPr>
          <a:xfrm>
            <a:off x="6248400" y="2228851"/>
            <a:ext cx="4236700" cy="1959425"/>
          </a:xfrm>
          <a:prstGeom prst="rect">
            <a:avLst/>
          </a:prstGeom>
          <a:noFill/>
          <a:ln>
            <a:noFill/>
          </a:ln>
        </p:spPr>
      </p:pic>
      <p:sp>
        <p:nvSpPr>
          <p:cNvPr id="86" name="Google Shape;86;p13"/>
          <p:cNvSpPr txBox="1"/>
          <p:nvPr/>
        </p:nvSpPr>
        <p:spPr>
          <a:xfrm>
            <a:off x="2021234" y="2543181"/>
            <a:ext cx="3788400" cy="323100"/>
          </a:xfrm>
          <a:prstGeom prst="rect">
            <a:avLst/>
          </a:prstGeom>
          <a:noFill/>
          <a:ln>
            <a:noFill/>
          </a:ln>
        </p:spPr>
        <p:txBody>
          <a:bodyPr anchorCtr="0" anchor="t" bIns="0" lIns="38100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Kiến thức đạt được</a:t>
            </a:r>
            <a:endParaRPr/>
          </a:p>
        </p:txBody>
      </p:sp>
      <p:sp>
        <p:nvSpPr>
          <p:cNvPr id="87" name="Google Shape;87;p13"/>
          <p:cNvSpPr txBox="1"/>
          <p:nvPr/>
        </p:nvSpPr>
        <p:spPr>
          <a:xfrm>
            <a:off x="6562725" y="2543181"/>
            <a:ext cx="3788400" cy="323100"/>
          </a:xfrm>
          <a:prstGeom prst="rect">
            <a:avLst/>
          </a:prstGeom>
          <a:noFill/>
          <a:ln>
            <a:noFill/>
          </a:ln>
        </p:spPr>
        <p:txBody>
          <a:bodyPr anchorCtr="0" anchor="t" bIns="0" lIns="447675"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Kỹ năng thực hành</a:t>
            </a:r>
            <a:endParaRPr/>
          </a:p>
        </p:txBody>
      </p:sp>
      <p:pic>
        <p:nvPicPr>
          <p:cNvPr descr="image.png" id="88" name="Google Shape;88;p13"/>
          <p:cNvPicPr preferRelativeResize="0"/>
          <p:nvPr/>
        </p:nvPicPr>
        <p:blipFill rotWithShape="1">
          <a:blip r:embed="rId4">
            <a:alphaModFix/>
          </a:blip>
          <a:srcRect b="0" l="0" r="0" t="0"/>
          <a:stretch/>
        </p:blipFill>
        <p:spPr>
          <a:xfrm>
            <a:off x="2021234" y="2571756"/>
            <a:ext cx="266700" cy="266700"/>
          </a:xfrm>
          <a:prstGeom prst="rect">
            <a:avLst/>
          </a:prstGeom>
          <a:noFill/>
          <a:ln>
            <a:noFill/>
          </a:ln>
        </p:spPr>
      </p:pic>
      <p:sp>
        <p:nvSpPr>
          <p:cNvPr id="89" name="Google Shape;89;p13"/>
          <p:cNvSpPr txBox="1"/>
          <p:nvPr/>
        </p:nvSpPr>
        <p:spPr>
          <a:xfrm>
            <a:off x="2326034" y="3019431"/>
            <a:ext cx="33033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Hiểu vai trò của OpenAPI (Swagger) trong tài liệu hóa API</a:t>
            </a:r>
            <a:endParaRPr/>
          </a:p>
        </p:txBody>
      </p:sp>
      <p:sp>
        <p:nvSpPr>
          <p:cNvPr id="90" name="Google Shape;90;p13"/>
          <p:cNvSpPr txBox="1"/>
          <p:nvPr/>
        </p:nvSpPr>
        <p:spPr>
          <a:xfrm>
            <a:off x="2326034" y="3743331"/>
            <a:ext cx="3303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Nắm cấu trúc file OpenAPI chuẩn</a:t>
            </a:r>
            <a:endParaRPr/>
          </a:p>
        </p:txBody>
      </p:sp>
      <p:pic>
        <p:nvPicPr>
          <p:cNvPr descr="image.png" id="91" name="Google Shape;91;p13"/>
          <p:cNvPicPr preferRelativeResize="0"/>
          <p:nvPr/>
        </p:nvPicPr>
        <p:blipFill rotWithShape="1">
          <a:blip r:embed="rId5">
            <a:alphaModFix/>
          </a:blip>
          <a:srcRect b="0" l="0" r="0" t="0"/>
          <a:stretch/>
        </p:blipFill>
        <p:spPr>
          <a:xfrm>
            <a:off x="6562725" y="2571756"/>
            <a:ext cx="333375" cy="266700"/>
          </a:xfrm>
          <a:prstGeom prst="rect">
            <a:avLst/>
          </a:prstGeom>
          <a:noFill/>
          <a:ln>
            <a:noFill/>
          </a:ln>
        </p:spPr>
      </p:pic>
      <p:sp>
        <p:nvSpPr>
          <p:cNvPr id="92" name="Google Shape;92;p13"/>
          <p:cNvSpPr txBox="1"/>
          <p:nvPr/>
        </p:nvSpPr>
        <p:spPr>
          <a:xfrm>
            <a:off x="6867525" y="3019431"/>
            <a:ext cx="3303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Viết OpenAPI spec cho API đơn giản</a:t>
            </a:r>
            <a:endParaRPr/>
          </a:p>
        </p:txBody>
      </p:sp>
      <p:sp>
        <p:nvSpPr>
          <p:cNvPr id="93" name="Google Shape;93;p13"/>
          <p:cNvSpPr txBox="1"/>
          <p:nvPr/>
        </p:nvSpPr>
        <p:spPr>
          <a:xfrm>
            <a:off x="6867525" y="3438525"/>
            <a:ext cx="34836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Tạo Swagger UI tự động bằng FastAPI</a:t>
            </a:r>
            <a:endParaRPr/>
          </a:p>
        </p:txBody>
      </p:sp>
      <p:pic>
        <p:nvPicPr>
          <p:cNvPr descr="image.png" id="94" name="Google Shape;94;p13"/>
          <p:cNvPicPr preferRelativeResize="0"/>
          <p:nvPr/>
        </p:nvPicPr>
        <p:blipFill rotWithShape="1">
          <a:blip r:embed="rId6">
            <a:alphaModFix/>
          </a:blip>
          <a:srcRect b="0" l="0" r="0" t="0"/>
          <a:stretch/>
        </p:blipFill>
        <p:spPr>
          <a:xfrm>
            <a:off x="2021234" y="3071819"/>
            <a:ext cx="95250" cy="200025"/>
          </a:xfrm>
          <a:prstGeom prst="rect">
            <a:avLst/>
          </a:prstGeom>
          <a:noFill/>
          <a:ln>
            <a:noFill/>
          </a:ln>
        </p:spPr>
      </p:pic>
      <p:pic>
        <p:nvPicPr>
          <p:cNvPr descr="image.png" id="95" name="Google Shape;95;p13"/>
          <p:cNvPicPr preferRelativeResize="0"/>
          <p:nvPr/>
        </p:nvPicPr>
        <p:blipFill rotWithShape="1">
          <a:blip r:embed="rId6">
            <a:alphaModFix/>
          </a:blip>
          <a:srcRect b="0" l="0" r="0" t="0"/>
          <a:stretch/>
        </p:blipFill>
        <p:spPr>
          <a:xfrm>
            <a:off x="2021234" y="3795719"/>
            <a:ext cx="95250" cy="200025"/>
          </a:xfrm>
          <a:prstGeom prst="rect">
            <a:avLst/>
          </a:prstGeom>
          <a:noFill/>
          <a:ln>
            <a:noFill/>
          </a:ln>
        </p:spPr>
      </p:pic>
      <p:pic>
        <p:nvPicPr>
          <p:cNvPr descr="image.png" id="96" name="Google Shape;96;p13"/>
          <p:cNvPicPr preferRelativeResize="0"/>
          <p:nvPr/>
        </p:nvPicPr>
        <p:blipFill rotWithShape="1">
          <a:blip r:embed="rId6">
            <a:alphaModFix/>
          </a:blip>
          <a:srcRect b="0" l="0" r="0" t="0"/>
          <a:stretch/>
        </p:blipFill>
        <p:spPr>
          <a:xfrm>
            <a:off x="6562725" y="3071819"/>
            <a:ext cx="95250" cy="200025"/>
          </a:xfrm>
          <a:prstGeom prst="rect">
            <a:avLst/>
          </a:prstGeom>
          <a:noFill/>
          <a:ln>
            <a:noFill/>
          </a:ln>
        </p:spPr>
      </p:pic>
      <p:pic>
        <p:nvPicPr>
          <p:cNvPr descr="image.png" id="97" name="Google Shape;97;p13"/>
          <p:cNvPicPr preferRelativeResize="0"/>
          <p:nvPr/>
        </p:nvPicPr>
        <p:blipFill rotWithShape="1">
          <a:blip r:embed="rId6">
            <a:alphaModFix/>
          </a:blip>
          <a:srcRect b="0" l="0" r="0" t="0"/>
          <a:stretch/>
        </p:blipFill>
        <p:spPr>
          <a:xfrm>
            <a:off x="6562725" y="3490919"/>
            <a:ext cx="95250" cy="200025"/>
          </a:xfrm>
          <a:prstGeom prst="rect">
            <a:avLst/>
          </a:prstGeom>
          <a:noFill/>
          <a:ln>
            <a:noFill/>
          </a:ln>
        </p:spPr>
      </p:pic>
      <p:sp>
        <p:nvSpPr>
          <p:cNvPr id="98" name="Google Shape;98;p13"/>
          <p:cNvSpPr txBox="1"/>
          <p:nvPr/>
        </p:nvSpPr>
        <p:spPr>
          <a:xfrm>
            <a:off x="335279" y="809625"/>
            <a:ext cx="11521440" cy="63996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1" i="0" lang="en-US" sz="4200" u="none" cap="none" strike="noStrike">
                <a:solidFill>
                  <a:srgbClr val="0284C7"/>
                </a:solidFill>
                <a:latin typeface="Inter"/>
                <a:ea typeface="Inter"/>
                <a:cs typeface="Inter"/>
                <a:sym typeface="Inter"/>
              </a:rPr>
              <a:t>Buổi 4: API Specification &amp; OpenAPI</a:t>
            </a:r>
            <a:endParaRPr/>
          </a:p>
        </p:txBody>
      </p:sp>
      <p:sp>
        <p:nvSpPr>
          <p:cNvPr id="99" name="Google Shape;99;p13"/>
          <p:cNvSpPr txBox="1"/>
          <p:nvPr/>
        </p:nvSpPr>
        <p:spPr>
          <a:xfrm>
            <a:off x="3411436" y="1592938"/>
            <a:ext cx="5369100" cy="2772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None/>
            </a:pPr>
            <a:r>
              <a:rPr b="0" i="0" lang="en-US" sz="1800" u="none" cap="none" strike="noStrike">
                <a:solidFill>
                  <a:srgbClr val="64748B"/>
                </a:solidFill>
                <a:latin typeface="Inter Medium"/>
                <a:ea typeface="Inter Medium"/>
                <a:cs typeface="Inter Medium"/>
                <a:sym typeface="Inter Medium"/>
              </a:rPr>
              <a:t>Viết tài liệu API chuyên nghiệp và chuẩn hóa</a:t>
            </a:r>
            <a:endParaRPr/>
          </a:p>
        </p:txBody>
      </p:sp>
      <p:pic>
        <p:nvPicPr>
          <p:cNvPr descr="image.png" id="100" name="Google Shape;100;p13"/>
          <p:cNvPicPr preferRelativeResize="0"/>
          <p:nvPr/>
        </p:nvPicPr>
        <p:blipFill rotWithShape="1">
          <a:blip r:embed="rId3">
            <a:alphaModFix/>
          </a:blip>
          <a:srcRect b="0" l="0" r="0" t="0"/>
          <a:stretch/>
        </p:blipFill>
        <p:spPr>
          <a:xfrm>
            <a:off x="1706900" y="4546975"/>
            <a:ext cx="8778200" cy="1510375"/>
          </a:xfrm>
          <a:prstGeom prst="rect">
            <a:avLst/>
          </a:prstGeom>
          <a:noFill/>
          <a:ln>
            <a:noFill/>
          </a:ln>
        </p:spPr>
      </p:pic>
      <p:sp>
        <p:nvSpPr>
          <p:cNvPr id="101" name="Google Shape;101;p13"/>
          <p:cNvSpPr txBox="1"/>
          <p:nvPr/>
        </p:nvSpPr>
        <p:spPr>
          <a:xfrm>
            <a:off x="2021234" y="4718081"/>
            <a:ext cx="3788400" cy="323100"/>
          </a:xfrm>
          <a:prstGeom prst="rect">
            <a:avLst/>
          </a:prstGeom>
          <a:noFill/>
          <a:ln>
            <a:noFill/>
          </a:ln>
        </p:spPr>
        <p:txBody>
          <a:bodyPr anchorCtr="0" anchor="t" bIns="0" lIns="381000" spcFirstLastPara="1" rIns="0" wrap="square" tIns="0">
            <a:spAutoFit/>
          </a:bodyPr>
          <a:lstStyle/>
          <a:p>
            <a:pPr indent="0" lvl="0" marL="0" marR="0" rtl="0" algn="l">
              <a:spcBef>
                <a:spcPts val="0"/>
              </a:spcBef>
              <a:spcAft>
                <a:spcPts val="0"/>
              </a:spcAft>
              <a:buNone/>
            </a:pPr>
            <a:r>
              <a:rPr b="1" lang="en-US" sz="2100">
                <a:solidFill>
                  <a:srgbClr val="0369A1"/>
                </a:solidFill>
                <a:latin typeface="Inter"/>
                <a:ea typeface="Inter"/>
                <a:cs typeface="Inter"/>
                <a:sym typeface="Inter"/>
              </a:rPr>
              <a:t>Nhóm 1:</a:t>
            </a:r>
            <a:endParaRPr/>
          </a:p>
        </p:txBody>
      </p:sp>
      <p:pic>
        <p:nvPicPr>
          <p:cNvPr descr="image.png" id="102" name="Google Shape;102;p13"/>
          <p:cNvPicPr preferRelativeResize="0"/>
          <p:nvPr/>
        </p:nvPicPr>
        <p:blipFill rotWithShape="1">
          <a:blip r:embed="rId4">
            <a:alphaModFix/>
          </a:blip>
          <a:srcRect b="0" l="0" r="0" t="0"/>
          <a:stretch/>
        </p:blipFill>
        <p:spPr>
          <a:xfrm>
            <a:off x="2021234" y="4746281"/>
            <a:ext cx="266700" cy="266700"/>
          </a:xfrm>
          <a:prstGeom prst="rect">
            <a:avLst/>
          </a:prstGeom>
          <a:noFill/>
          <a:ln>
            <a:noFill/>
          </a:ln>
        </p:spPr>
      </p:pic>
      <p:sp>
        <p:nvSpPr>
          <p:cNvPr id="103" name="Google Shape;103;p13"/>
          <p:cNvSpPr txBox="1"/>
          <p:nvPr/>
        </p:nvSpPr>
        <p:spPr>
          <a:xfrm>
            <a:off x="2326025" y="5166325"/>
            <a:ext cx="33033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334155"/>
                </a:solidFill>
                <a:latin typeface="Inter"/>
                <a:ea typeface="Inter"/>
                <a:cs typeface="Inter"/>
                <a:sym typeface="Inter"/>
              </a:rPr>
              <a:t>23020094: Tôn Thiện Khoẻ </a:t>
            </a:r>
            <a:endParaRPr sz="1500">
              <a:solidFill>
                <a:srgbClr val="334155"/>
              </a:solidFill>
              <a:latin typeface="Inter"/>
              <a:ea typeface="Inter"/>
              <a:cs typeface="Inter"/>
              <a:sym typeface="Inter"/>
            </a:endParaRPr>
          </a:p>
          <a:p>
            <a:pPr indent="0" lvl="0" marL="0" marR="0" rtl="0" algn="l">
              <a:lnSpc>
                <a:spcPct val="160000"/>
              </a:lnSpc>
              <a:spcBef>
                <a:spcPts val="0"/>
              </a:spcBef>
              <a:spcAft>
                <a:spcPts val="0"/>
              </a:spcAft>
              <a:buNone/>
            </a:pPr>
            <a:r>
              <a:rPr lang="en-US" sz="1500">
                <a:solidFill>
                  <a:srgbClr val="334155"/>
                </a:solidFill>
                <a:latin typeface="Inter"/>
                <a:ea typeface="Inter"/>
                <a:cs typeface="Inter"/>
                <a:sym typeface="Inter"/>
              </a:rPr>
              <a:t>21020123: Nguyễn Tiến Hoàng</a:t>
            </a:r>
            <a:endParaRPr/>
          </a:p>
        </p:txBody>
      </p:sp>
      <p:sp>
        <p:nvSpPr>
          <p:cNvPr id="104" name="Google Shape;104;p13"/>
          <p:cNvSpPr txBox="1"/>
          <p:nvPr/>
        </p:nvSpPr>
        <p:spPr>
          <a:xfrm>
            <a:off x="6805275" y="5166325"/>
            <a:ext cx="33033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lang="en-US" sz="1500">
                <a:solidFill>
                  <a:srgbClr val="334155"/>
                </a:solidFill>
                <a:latin typeface="Inter"/>
                <a:ea typeface="Inter"/>
                <a:cs typeface="Inter"/>
                <a:sym typeface="Inter"/>
              </a:rPr>
              <a:t>23020014: Hà Vũ Công </a:t>
            </a:r>
            <a:endParaRPr sz="1500">
              <a:solidFill>
                <a:srgbClr val="334155"/>
              </a:solidFill>
              <a:latin typeface="Inter"/>
              <a:ea typeface="Inter"/>
              <a:cs typeface="Inter"/>
              <a:sym typeface="Inter"/>
            </a:endParaRPr>
          </a:p>
          <a:p>
            <a:pPr indent="0" lvl="0" marL="0" marR="0" rtl="0" algn="l">
              <a:lnSpc>
                <a:spcPct val="160000"/>
              </a:lnSpc>
              <a:spcBef>
                <a:spcPts val="0"/>
              </a:spcBef>
              <a:spcAft>
                <a:spcPts val="0"/>
              </a:spcAft>
              <a:buNone/>
            </a:pPr>
            <a:r>
              <a:rPr lang="en-US" sz="1500">
                <a:solidFill>
                  <a:srgbClr val="334155"/>
                </a:solidFill>
                <a:latin typeface="Inter"/>
                <a:ea typeface="Inter"/>
                <a:cs typeface="Inter"/>
                <a:sym typeface="Inter"/>
              </a:rPr>
              <a:t>22024538: Trần Hữu Mạnh</a:t>
            </a:r>
            <a:endParaRPr/>
          </a:p>
        </p:txBody>
      </p:sp>
      <p:pic>
        <p:nvPicPr>
          <p:cNvPr descr="image.png" id="105" name="Google Shape;105;p13"/>
          <p:cNvPicPr preferRelativeResize="0"/>
          <p:nvPr/>
        </p:nvPicPr>
        <p:blipFill rotWithShape="1">
          <a:blip r:embed="rId6">
            <a:alphaModFix/>
          </a:blip>
          <a:srcRect b="0" l="0" r="0" t="0"/>
          <a:stretch/>
        </p:blipFill>
        <p:spPr>
          <a:xfrm>
            <a:off x="2106959" y="5570969"/>
            <a:ext cx="95250" cy="200025"/>
          </a:xfrm>
          <a:prstGeom prst="rect">
            <a:avLst/>
          </a:prstGeom>
          <a:noFill/>
          <a:ln>
            <a:noFill/>
          </a:ln>
        </p:spPr>
      </p:pic>
      <p:pic>
        <p:nvPicPr>
          <p:cNvPr descr="image.png" id="106" name="Google Shape;106;p13"/>
          <p:cNvPicPr preferRelativeResize="0"/>
          <p:nvPr/>
        </p:nvPicPr>
        <p:blipFill rotWithShape="1">
          <a:blip r:embed="rId6">
            <a:alphaModFix/>
          </a:blip>
          <a:srcRect b="0" l="0" r="0" t="0"/>
          <a:stretch/>
        </p:blipFill>
        <p:spPr>
          <a:xfrm>
            <a:off x="2106959" y="5206057"/>
            <a:ext cx="95250" cy="200025"/>
          </a:xfrm>
          <a:prstGeom prst="rect">
            <a:avLst/>
          </a:prstGeom>
          <a:noFill/>
          <a:ln>
            <a:noFill/>
          </a:ln>
        </p:spPr>
      </p:pic>
      <p:pic>
        <p:nvPicPr>
          <p:cNvPr descr="image.png" id="107" name="Google Shape;107;p13"/>
          <p:cNvPicPr preferRelativeResize="0"/>
          <p:nvPr/>
        </p:nvPicPr>
        <p:blipFill rotWithShape="1">
          <a:blip r:embed="rId6">
            <a:alphaModFix/>
          </a:blip>
          <a:srcRect b="0" l="0" r="0" t="0"/>
          <a:stretch/>
        </p:blipFill>
        <p:spPr>
          <a:xfrm>
            <a:off x="6562734" y="5202144"/>
            <a:ext cx="95250" cy="200025"/>
          </a:xfrm>
          <a:prstGeom prst="rect">
            <a:avLst/>
          </a:prstGeom>
          <a:noFill/>
          <a:ln>
            <a:noFill/>
          </a:ln>
        </p:spPr>
      </p:pic>
      <p:pic>
        <p:nvPicPr>
          <p:cNvPr descr="image.png" id="108" name="Google Shape;108;p13"/>
          <p:cNvPicPr preferRelativeResize="0"/>
          <p:nvPr/>
        </p:nvPicPr>
        <p:blipFill rotWithShape="1">
          <a:blip r:embed="rId6">
            <a:alphaModFix/>
          </a:blip>
          <a:srcRect b="0" l="0" r="0" t="0"/>
          <a:stretch/>
        </p:blipFill>
        <p:spPr>
          <a:xfrm>
            <a:off x="6562734" y="5570969"/>
            <a:ext cx="95250" cy="2000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2" name="Shape 112"/>
        <p:cNvGrpSpPr/>
        <p:nvPr/>
      </p:nvGrpSpPr>
      <p:grpSpPr>
        <a:xfrm>
          <a:off x="0" y="0"/>
          <a:ext cx="0" cy="0"/>
          <a:chOff x="0" y="0"/>
          <a:chExt cx="0" cy="0"/>
        </a:xfrm>
      </p:grpSpPr>
      <p:pic>
        <p:nvPicPr>
          <p:cNvPr descr="image.png" id="113" name="Google Shape;113;p14"/>
          <p:cNvPicPr preferRelativeResize="0"/>
          <p:nvPr/>
        </p:nvPicPr>
        <p:blipFill rotWithShape="1">
          <a:blip r:embed="rId3">
            <a:alphaModFix/>
          </a:blip>
          <a:srcRect b="0" l="0" r="0" t="0"/>
          <a:stretch/>
        </p:blipFill>
        <p:spPr>
          <a:xfrm>
            <a:off x="609600" y="1371600"/>
            <a:ext cx="5257800" cy="4978300"/>
          </a:xfrm>
          <a:prstGeom prst="rect">
            <a:avLst/>
          </a:prstGeom>
          <a:noFill/>
          <a:ln>
            <a:noFill/>
          </a:ln>
        </p:spPr>
      </p:pic>
      <p:pic>
        <p:nvPicPr>
          <p:cNvPr descr="image.png" id="114" name="Google Shape;114;p14"/>
          <p:cNvPicPr preferRelativeResize="0"/>
          <p:nvPr/>
        </p:nvPicPr>
        <p:blipFill rotWithShape="1">
          <a:blip r:embed="rId4">
            <a:alphaModFix/>
          </a:blip>
          <a:srcRect b="0" l="0" r="0" t="0"/>
          <a:stretch/>
        </p:blipFill>
        <p:spPr>
          <a:xfrm>
            <a:off x="6324600" y="1809738"/>
            <a:ext cx="5257800" cy="3771900"/>
          </a:xfrm>
          <a:prstGeom prst="rect">
            <a:avLst/>
          </a:prstGeom>
          <a:noFill/>
          <a:ln>
            <a:noFill/>
          </a:ln>
        </p:spPr>
      </p:pic>
      <p:sp>
        <p:nvSpPr>
          <p:cNvPr id="115" name="Google Shape;115;p14"/>
          <p:cNvSpPr txBox="1"/>
          <p:nvPr/>
        </p:nvSpPr>
        <p:spPr>
          <a:xfrm>
            <a:off x="923925" y="1685925"/>
            <a:ext cx="4860607" cy="323850"/>
          </a:xfrm>
          <a:prstGeom prst="rect">
            <a:avLst/>
          </a:prstGeom>
          <a:noFill/>
          <a:ln>
            <a:noFill/>
          </a:ln>
        </p:spPr>
        <p:txBody>
          <a:bodyPr anchorCtr="0" anchor="t" bIns="0" lIns="381000" spcFirstLastPara="1" rIns="0" wrap="square" tIns="0">
            <a:spAutoFit/>
          </a:bodyPr>
          <a:lstStyle/>
          <a:p>
            <a:pPr indent="0" lvl="0" marL="0" marR="0" rtl="0" algn="l">
              <a:spcBef>
                <a:spcPts val="0"/>
              </a:spcBef>
              <a:spcAft>
                <a:spcPts val="0"/>
              </a:spcAft>
              <a:buNone/>
            </a:pPr>
            <a:r>
              <a:rPr b="1" i="0" lang="en-US" sz="2100" u="none" cap="none" strike="noStrike">
                <a:solidFill>
                  <a:srgbClr val="EF4444"/>
                </a:solidFill>
                <a:latin typeface="Inter"/>
                <a:ea typeface="Inter"/>
                <a:cs typeface="Inter"/>
                <a:sym typeface="Inter"/>
              </a:rPr>
              <a:t>Không có tài liệu → Hỗn loạn 😱</a:t>
            </a:r>
            <a:endParaRPr/>
          </a:p>
        </p:txBody>
      </p:sp>
      <p:sp>
        <p:nvSpPr>
          <p:cNvPr id="116" name="Google Shape;116;p14"/>
          <p:cNvSpPr/>
          <p:nvPr/>
        </p:nvSpPr>
        <p:spPr>
          <a:xfrm>
            <a:off x="923925" y="2162175"/>
            <a:ext cx="4629300" cy="37719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17" name="Google Shape;117;p14"/>
          <p:cNvGraphicFramePr/>
          <p:nvPr/>
        </p:nvGraphicFramePr>
        <p:xfrm>
          <a:off x="923925" y="2162175"/>
          <a:ext cx="3000000" cy="3000000"/>
        </p:xfrm>
        <a:graphic>
          <a:graphicData uri="http://schemas.openxmlformats.org/drawingml/2006/table">
            <a:tbl>
              <a:tblPr bandRow="1" firstRow="1">
                <a:noFill/>
                <a:tableStyleId>{71C36EBE-E20A-4936-B9F0-920A7353A307}</a:tableStyleId>
              </a:tblPr>
              <a:tblGrid>
                <a:gridCol w="2441975"/>
                <a:gridCol w="2187175"/>
              </a:tblGrid>
              <a:tr h="754375">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Vấn đề</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Hậu quả</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754375">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Frontend không biết API nhận gì</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Gọi sai → lỗi liên tục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375">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Backend đổi API không thông báo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App bị crash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375">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Người mới vào team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Mất hàng tuần để hiểu API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54375">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Đối tác tích hợp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Hỏi đi hỏi lại qua chat/email</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18" name="Google Shape;118;p14"/>
          <p:cNvSpPr txBox="1"/>
          <p:nvPr/>
        </p:nvSpPr>
        <p:spPr>
          <a:xfrm>
            <a:off x="6638925" y="2124063"/>
            <a:ext cx="4860600" cy="323100"/>
          </a:xfrm>
          <a:prstGeom prst="rect">
            <a:avLst/>
          </a:prstGeom>
          <a:noFill/>
          <a:ln>
            <a:noFill/>
          </a:ln>
        </p:spPr>
        <p:txBody>
          <a:bodyPr anchorCtr="0" anchor="t" bIns="0" lIns="381000" spcFirstLastPara="1" rIns="0" wrap="square" tIns="0">
            <a:spAutoFit/>
          </a:bodyPr>
          <a:lstStyle/>
          <a:p>
            <a:pPr indent="0" lvl="0" marL="0" marR="0" rtl="0" algn="l">
              <a:spcBef>
                <a:spcPts val="0"/>
              </a:spcBef>
              <a:spcAft>
                <a:spcPts val="0"/>
              </a:spcAft>
              <a:buNone/>
            </a:pPr>
            <a:r>
              <a:rPr b="1" i="0" lang="en-US" sz="2100" u="none" cap="none" strike="noStrike">
                <a:solidFill>
                  <a:srgbClr val="10B981"/>
                </a:solidFill>
                <a:latin typeface="Inter"/>
                <a:ea typeface="Inter"/>
                <a:cs typeface="Inter"/>
                <a:sym typeface="Inter"/>
              </a:rPr>
              <a:t>Có tài liệu → Chuyên nghiệp ✅</a:t>
            </a:r>
            <a:endParaRPr/>
          </a:p>
        </p:txBody>
      </p:sp>
      <p:sp>
        <p:nvSpPr>
          <p:cNvPr id="119" name="Google Shape;119;p14"/>
          <p:cNvSpPr txBox="1"/>
          <p:nvPr/>
        </p:nvSpPr>
        <p:spPr>
          <a:xfrm>
            <a:off x="6638925" y="2600313"/>
            <a:ext cx="46293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Giải quyết triệt để các rào cản giao tiếp kỹ thuật.</a:t>
            </a:r>
            <a:endParaRPr/>
          </a:p>
        </p:txBody>
      </p:sp>
      <p:pic>
        <p:nvPicPr>
          <p:cNvPr descr="image.png" id="120" name="Google Shape;120;p14"/>
          <p:cNvPicPr preferRelativeResize="0"/>
          <p:nvPr/>
        </p:nvPicPr>
        <p:blipFill rotWithShape="1">
          <a:blip r:embed="rId5">
            <a:alphaModFix/>
          </a:blip>
          <a:srcRect b="0" l="0" r="0" t="0"/>
          <a:stretch/>
        </p:blipFill>
        <p:spPr>
          <a:xfrm>
            <a:off x="923925" y="1714500"/>
            <a:ext cx="266700" cy="266700"/>
          </a:xfrm>
          <a:prstGeom prst="rect">
            <a:avLst/>
          </a:prstGeom>
          <a:noFill/>
          <a:ln>
            <a:noFill/>
          </a:ln>
        </p:spPr>
      </p:pic>
      <p:sp>
        <p:nvSpPr>
          <p:cNvPr id="121" name="Google Shape;121;p14"/>
          <p:cNvSpPr/>
          <p:nvPr/>
        </p:nvSpPr>
        <p:spPr>
          <a:xfrm>
            <a:off x="923925" y="2767012"/>
            <a:ext cx="24419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2" name="Google Shape;122;p14"/>
          <p:cNvSpPr/>
          <p:nvPr/>
        </p:nvSpPr>
        <p:spPr>
          <a:xfrm>
            <a:off x="3365896" y="2767012"/>
            <a:ext cx="21871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23" name="Google Shape;123;p14"/>
          <p:cNvPicPr preferRelativeResize="0"/>
          <p:nvPr/>
        </p:nvPicPr>
        <p:blipFill rotWithShape="1">
          <a:blip r:embed="rId6">
            <a:alphaModFix/>
          </a:blip>
          <a:srcRect b="0" l="0" r="0" t="0"/>
          <a:stretch/>
        </p:blipFill>
        <p:spPr>
          <a:xfrm>
            <a:off x="6638925" y="2152638"/>
            <a:ext cx="266700" cy="266700"/>
          </a:xfrm>
          <a:prstGeom prst="rect">
            <a:avLst/>
          </a:prstGeom>
          <a:noFill/>
          <a:ln>
            <a:noFill/>
          </a:ln>
        </p:spPr>
      </p:pic>
      <p:sp>
        <p:nvSpPr>
          <p:cNvPr id="124" name="Google Shape;124;p14"/>
          <p:cNvSpPr txBox="1"/>
          <p:nvPr/>
        </p:nvSpPr>
        <p:spPr>
          <a:xfrm>
            <a:off x="6943725" y="3133713"/>
            <a:ext cx="43242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Một nguồn sự thật duy nhất</a:t>
            </a:r>
            <a:r>
              <a:rPr b="0" i="0" lang="en-US" sz="1500" u="none" cap="none" strike="noStrike">
                <a:solidFill>
                  <a:srgbClr val="334155"/>
                </a:solidFill>
                <a:latin typeface="Inter"/>
                <a:ea typeface="Inter"/>
                <a:cs typeface="Inter"/>
                <a:sym typeface="Inter"/>
              </a:rPr>
              <a:t> (Single Source of Truth)</a:t>
            </a:r>
            <a:endParaRPr/>
          </a:p>
        </p:txBody>
      </p:sp>
      <p:sp>
        <p:nvSpPr>
          <p:cNvPr id="125" name="Google Shape;125;p14"/>
          <p:cNvSpPr txBox="1"/>
          <p:nvPr/>
        </p:nvSpPr>
        <p:spPr>
          <a:xfrm>
            <a:off x="6943725" y="3857613"/>
            <a:ext cx="4324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Frontend &amp; Backend đồng bộ phát triển</a:t>
            </a:r>
            <a:endParaRPr/>
          </a:p>
        </p:txBody>
      </p:sp>
      <p:sp>
        <p:nvSpPr>
          <p:cNvPr id="126" name="Google Shape;126;p14"/>
          <p:cNvSpPr txBox="1"/>
          <p:nvPr/>
        </p:nvSpPr>
        <p:spPr>
          <a:xfrm>
            <a:off x="6943725" y="4276713"/>
            <a:ext cx="4324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Tự động generate code, test, mock server</a:t>
            </a:r>
            <a:endParaRPr/>
          </a:p>
        </p:txBody>
      </p:sp>
      <p:sp>
        <p:nvSpPr>
          <p:cNvPr id="127" name="Google Shape;127;p14"/>
          <p:cNvSpPr txBox="1"/>
          <p:nvPr/>
        </p:nvSpPr>
        <p:spPr>
          <a:xfrm>
            <a:off x="6943725" y="4695813"/>
            <a:ext cx="4324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Tiết kiệm thời gian onboarding nhân sự mới</a:t>
            </a:r>
            <a:endParaRPr/>
          </a:p>
        </p:txBody>
      </p:sp>
      <p:sp>
        <p:nvSpPr>
          <p:cNvPr id="128" name="Google Shape;128;p14"/>
          <p:cNvSpPr/>
          <p:nvPr/>
        </p:nvSpPr>
        <p:spPr>
          <a:xfrm>
            <a:off x="923925" y="3690937"/>
            <a:ext cx="24419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29" name="Google Shape;129;p14"/>
          <p:cNvSpPr/>
          <p:nvPr/>
        </p:nvSpPr>
        <p:spPr>
          <a:xfrm>
            <a:off x="3365896" y="3690937"/>
            <a:ext cx="21871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0" name="Google Shape;130;p14"/>
          <p:cNvSpPr/>
          <p:nvPr/>
        </p:nvSpPr>
        <p:spPr>
          <a:xfrm>
            <a:off x="923925" y="4614862"/>
            <a:ext cx="24419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1" name="Google Shape;131;p14"/>
          <p:cNvSpPr/>
          <p:nvPr/>
        </p:nvSpPr>
        <p:spPr>
          <a:xfrm>
            <a:off x="3365896" y="4614862"/>
            <a:ext cx="21871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2" name="Google Shape;132;p14"/>
          <p:cNvSpPr/>
          <p:nvPr/>
        </p:nvSpPr>
        <p:spPr>
          <a:xfrm>
            <a:off x="923925" y="5538787"/>
            <a:ext cx="244197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33" name="Google Shape;133;p14"/>
          <p:cNvSpPr/>
          <p:nvPr/>
        </p:nvSpPr>
        <p:spPr>
          <a:xfrm>
            <a:off x="3365896" y="5538787"/>
            <a:ext cx="2187178"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34" name="Google Shape;134;p14"/>
          <p:cNvPicPr preferRelativeResize="0"/>
          <p:nvPr/>
        </p:nvPicPr>
        <p:blipFill rotWithShape="1">
          <a:blip r:embed="rId7">
            <a:alphaModFix/>
          </a:blip>
          <a:srcRect b="0" l="0" r="0" t="0"/>
          <a:stretch/>
        </p:blipFill>
        <p:spPr>
          <a:xfrm>
            <a:off x="6638925" y="3186099"/>
            <a:ext cx="190500" cy="200025"/>
          </a:xfrm>
          <a:prstGeom prst="rect">
            <a:avLst/>
          </a:prstGeom>
          <a:noFill/>
          <a:ln>
            <a:noFill/>
          </a:ln>
        </p:spPr>
      </p:pic>
      <p:pic>
        <p:nvPicPr>
          <p:cNvPr descr="image.png" id="135" name="Google Shape;135;p14"/>
          <p:cNvPicPr preferRelativeResize="0"/>
          <p:nvPr/>
        </p:nvPicPr>
        <p:blipFill rotWithShape="1">
          <a:blip r:embed="rId7">
            <a:alphaModFix/>
          </a:blip>
          <a:srcRect b="0" l="0" r="0" t="0"/>
          <a:stretch/>
        </p:blipFill>
        <p:spPr>
          <a:xfrm>
            <a:off x="6638925" y="3910000"/>
            <a:ext cx="190500" cy="200025"/>
          </a:xfrm>
          <a:prstGeom prst="rect">
            <a:avLst/>
          </a:prstGeom>
          <a:noFill/>
          <a:ln>
            <a:noFill/>
          </a:ln>
        </p:spPr>
      </p:pic>
      <p:pic>
        <p:nvPicPr>
          <p:cNvPr descr="image.png" id="136" name="Google Shape;136;p14"/>
          <p:cNvPicPr preferRelativeResize="0"/>
          <p:nvPr/>
        </p:nvPicPr>
        <p:blipFill rotWithShape="1">
          <a:blip r:embed="rId7">
            <a:alphaModFix/>
          </a:blip>
          <a:srcRect b="0" l="0" r="0" t="0"/>
          <a:stretch/>
        </p:blipFill>
        <p:spPr>
          <a:xfrm>
            <a:off x="6638925" y="4329100"/>
            <a:ext cx="190500" cy="200025"/>
          </a:xfrm>
          <a:prstGeom prst="rect">
            <a:avLst/>
          </a:prstGeom>
          <a:noFill/>
          <a:ln>
            <a:noFill/>
          </a:ln>
        </p:spPr>
      </p:pic>
      <p:pic>
        <p:nvPicPr>
          <p:cNvPr descr="image.png" id="137" name="Google Shape;137;p14"/>
          <p:cNvPicPr preferRelativeResize="0"/>
          <p:nvPr/>
        </p:nvPicPr>
        <p:blipFill rotWithShape="1">
          <a:blip r:embed="rId7">
            <a:alphaModFix/>
          </a:blip>
          <a:srcRect b="0" l="0" r="0" t="0"/>
          <a:stretch/>
        </p:blipFill>
        <p:spPr>
          <a:xfrm>
            <a:off x="6638925" y="4748200"/>
            <a:ext cx="190500" cy="200025"/>
          </a:xfrm>
          <a:prstGeom prst="rect">
            <a:avLst/>
          </a:prstGeom>
          <a:noFill/>
          <a:ln>
            <a:noFill/>
          </a:ln>
        </p:spPr>
      </p:pic>
      <p:sp>
        <p:nvSpPr>
          <p:cNvPr id="138" name="Google Shape;138;p14"/>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Vấn đề: Tại sao cần tài liệu hóa API?</a:t>
            </a:r>
            <a:endParaRPr/>
          </a:p>
        </p:txBody>
      </p:sp>
      <p:sp>
        <p:nvSpPr>
          <p:cNvPr id="139" name="Google Shape;139;p14"/>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pic>
        <p:nvPicPr>
          <p:cNvPr descr="image.png" id="144" name="Google Shape;144;p1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45" name="Google Shape;145;p15"/>
          <p:cNvPicPr preferRelativeResize="0"/>
          <p:nvPr/>
        </p:nvPicPr>
        <p:blipFill rotWithShape="1">
          <a:blip r:embed="rId4">
            <a:alphaModFix/>
          </a:blip>
          <a:srcRect b="0" l="0" r="0" t="0"/>
          <a:stretch/>
        </p:blipFill>
        <p:spPr>
          <a:xfrm>
            <a:off x="6324600" y="2362200"/>
            <a:ext cx="5257800" cy="4162425"/>
          </a:xfrm>
          <a:prstGeom prst="rect">
            <a:avLst/>
          </a:prstGeom>
          <a:noFill/>
          <a:ln>
            <a:noFill/>
          </a:ln>
        </p:spPr>
      </p:pic>
      <p:sp>
        <p:nvSpPr>
          <p:cNvPr id="146" name="Google Shape;146;p15"/>
          <p:cNvSpPr txBox="1"/>
          <p:nvPr/>
        </p:nvSpPr>
        <p:spPr>
          <a:xfrm>
            <a:off x="609600" y="1371600"/>
            <a:ext cx="109728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Định nghĩa:</a:t>
            </a:r>
            <a:r>
              <a:rPr b="0" i="0" lang="en-US" sz="1500" u="none" cap="none" strike="noStrike">
                <a:solidFill>
                  <a:srgbClr val="334155"/>
                </a:solidFill>
                <a:latin typeface="Inter"/>
                <a:ea typeface="Inter"/>
                <a:cs typeface="Inter"/>
                <a:sym typeface="Inter"/>
              </a:rPr>
              <a:t> API Specification là bản mô tả chi tiết, có cấu trúc về cách hoạt động của API, giúp cả con người và máy móc đều có thể đọc hiểu.</a:t>
            </a:r>
            <a:endParaRPr/>
          </a:p>
        </p:txBody>
      </p:sp>
      <p:sp>
        <p:nvSpPr>
          <p:cNvPr id="147" name="Google Shape;147;p15"/>
          <p:cNvSpPr txBox="1"/>
          <p:nvPr/>
        </p:nvSpPr>
        <p:spPr>
          <a:xfrm>
            <a:off x="609600" y="2362200"/>
            <a:ext cx="552069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So sánh dễ hiểu</a:t>
            </a:r>
            <a:endParaRPr/>
          </a:p>
        </p:txBody>
      </p:sp>
      <p:sp>
        <p:nvSpPr>
          <p:cNvPr id="148" name="Google Shape;148;p15"/>
          <p:cNvSpPr/>
          <p:nvPr/>
        </p:nvSpPr>
        <p:spPr>
          <a:xfrm>
            <a:off x="609600" y="2838450"/>
            <a:ext cx="5257800" cy="3686175"/>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49" name="Google Shape;149;p15"/>
          <p:cNvGraphicFramePr/>
          <p:nvPr/>
        </p:nvGraphicFramePr>
        <p:xfrm>
          <a:off x="609600" y="2838450"/>
          <a:ext cx="3000000" cy="3000000"/>
        </p:xfrm>
        <a:graphic>
          <a:graphicData uri="http://schemas.openxmlformats.org/drawingml/2006/table">
            <a:tbl>
              <a:tblPr bandRow="1" firstRow="1">
                <a:noFill/>
                <a:tableStyleId>{71C36EBE-E20A-4936-B9F0-920A7353A307}</a:tableStyleId>
              </a:tblPr>
              <a:tblGrid>
                <a:gridCol w="1083025"/>
                <a:gridCol w="1890275"/>
                <a:gridCol w="2284500"/>
              </a:tblGrid>
              <a:tr h="921550">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Đặc điểm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Bản vẽ kiến trúc nhà</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API Specification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921550">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Mô tả</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Kích thước, vật liệu, bố trí</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Endpoints, methods, data format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21550">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Ai đọc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Thợ xây, kỹ sư, chủ nhà</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Frontend dev, tester, đối tác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21550">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Chuẩn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TCVN, ISO, tiêu chuẩn xây dựng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OpenAPI, RAML, Blueprint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50" name="Google Shape;150;p15"/>
          <p:cNvSpPr txBox="1"/>
          <p:nvPr/>
        </p:nvSpPr>
        <p:spPr>
          <a:xfrm>
            <a:off x="6638925" y="2676525"/>
            <a:ext cx="486060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Các chuẩn phổ biến</a:t>
            </a:r>
            <a:endParaRPr/>
          </a:p>
        </p:txBody>
      </p:sp>
      <p:sp>
        <p:nvSpPr>
          <p:cNvPr id="151" name="Google Shape;151;p15"/>
          <p:cNvSpPr txBox="1"/>
          <p:nvPr/>
        </p:nvSpPr>
        <p:spPr>
          <a:xfrm>
            <a:off x="6638925" y="3152775"/>
            <a:ext cx="46291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Mặc dù có nhiều chuẩn, nhưng hiện tại có một tiêu chuẩn thống trị thị trường:</a:t>
            </a:r>
            <a:endParaRPr/>
          </a:p>
        </p:txBody>
      </p:sp>
      <p:sp>
        <p:nvSpPr>
          <p:cNvPr id="152" name="Google Shape;152;p15"/>
          <p:cNvSpPr/>
          <p:nvPr/>
        </p:nvSpPr>
        <p:spPr>
          <a:xfrm>
            <a:off x="609600" y="3748087"/>
            <a:ext cx="108302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3" name="Google Shape;153;p15"/>
          <p:cNvSpPr/>
          <p:nvPr/>
        </p:nvSpPr>
        <p:spPr>
          <a:xfrm>
            <a:off x="1692622" y="3748087"/>
            <a:ext cx="18902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4" name="Google Shape;154;p15"/>
          <p:cNvSpPr/>
          <p:nvPr/>
        </p:nvSpPr>
        <p:spPr>
          <a:xfrm>
            <a:off x="3582888" y="3748087"/>
            <a:ext cx="228451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5" name="Google Shape;155;p15"/>
          <p:cNvSpPr txBox="1"/>
          <p:nvPr/>
        </p:nvSpPr>
        <p:spPr>
          <a:xfrm>
            <a:off x="6943725" y="3914775"/>
            <a:ext cx="4324350" cy="9144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OpenAPI (Swagger)</a:t>
            </a:r>
            <a:r>
              <a:rPr b="0" i="0" lang="en-US" sz="1500" u="none" cap="none" strike="noStrike">
                <a:solidFill>
                  <a:srgbClr val="334155"/>
                </a:solidFill>
                <a:latin typeface="Inter"/>
                <a:ea typeface="Inter"/>
                <a:cs typeface="Inter"/>
                <a:sym typeface="Inter"/>
              </a:rPr>
              <a:t>: Phổ biến nhất, được hậu thuẫn bởi các ông lớn công nghệ (Hôm nay học cái này).</a:t>
            </a:r>
            <a:endParaRPr/>
          </a:p>
        </p:txBody>
      </p:sp>
      <p:sp>
        <p:nvSpPr>
          <p:cNvPr id="156" name="Google Shape;156;p15"/>
          <p:cNvSpPr txBox="1"/>
          <p:nvPr/>
        </p:nvSpPr>
        <p:spPr>
          <a:xfrm>
            <a:off x="6943725" y="4943475"/>
            <a:ext cx="43243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RAML</a:t>
            </a:r>
            <a:r>
              <a:rPr b="0" i="0" lang="en-US" sz="1500" u="none" cap="none" strike="noStrike">
                <a:solidFill>
                  <a:srgbClr val="334155"/>
                </a:solidFill>
                <a:latin typeface="Inter"/>
                <a:ea typeface="Inter"/>
                <a:cs typeface="Inter"/>
                <a:sym typeface="Inter"/>
              </a:rPr>
              <a:t> (RESTful API Modeling Language)</a:t>
            </a:r>
            <a:endParaRPr/>
          </a:p>
        </p:txBody>
      </p:sp>
      <p:sp>
        <p:nvSpPr>
          <p:cNvPr id="157" name="Google Shape;157;p15"/>
          <p:cNvSpPr txBox="1"/>
          <p:nvPr/>
        </p:nvSpPr>
        <p:spPr>
          <a:xfrm>
            <a:off x="6943725" y="5362575"/>
            <a:ext cx="4324350" cy="30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API Blueprint</a:t>
            </a:r>
            <a:endParaRPr/>
          </a:p>
        </p:txBody>
      </p:sp>
      <p:sp>
        <p:nvSpPr>
          <p:cNvPr id="158" name="Google Shape;158;p15"/>
          <p:cNvSpPr/>
          <p:nvPr/>
        </p:nvSpPr>
        <p:spPr>
          <a:xfrm>
            <a:off x="609600" y="4672012"/>
            <a:ext cx="108302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9" name="Google Shape;159;p15"/>
          <p:cNvSpPr/>
          <p:nvPr/>
        </p:nvSpPr>
        <p:spPr>
          <a:xfrm>
            <a:off x="1692622" y="4672012"/>
            <a:ext cx="18902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0" name="Google Shape;160;p15"/>
          <p:cNvSpPr/>
          <p:nvPr/>
        </p:nvSpPr>
        <p:spPr>
          <a:xfrm>
            <a:off x="3582888" y="4672012"/>
            <a:ext cx="228451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1" name="Google Shape;161;p15"/>
          <p:cNvSpPr/>
          <p:nvPr/>
        </p:nvSpPr>
        <p:spPr>
          <a:xfrm>
            <a:off x="609600" y="5595937"/>
            <a:ext cx="108302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2" name="Google Shape;162;p15"/>
          <p:cNvSpPr/>
          <p:nvPr/>
        </p:nvSpPr>
        <p:spPr>
          <a:xfrm>
            <a:off x="1692622" y="5595937"/>
            <a:ext cx="189026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63" name="Google Shape;163;p15"/>
          <p:cNvSpPr/>
          <p:nvPr/>
        </p:nvSpPr>
        <p:spPr>
          <a:xfrm>
            <a:off x="3582888" y="5595937"/>
            <a:ext cx="228451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64" name="Google Shape;164;p15"/>
          <p:cNvPicPr preferRelativeResize="0"/>
          <p:nvPr/>
        </p:nvPicPr>
        <p:blipFill rotWithShape="1">
          <a:blip r:embed="rId5">
            <a:alphaModFix/>
          </a:blip>
          <a:srcRect b="0" l="0" r="0" t="0"/>
          <a:stretch/>
        </p:blipFill>
        <p:spPr>
          <a:xfrm>
            <a:off x="6638925" y="3967162"/>
            <a:ext cx="219075" cy="200025"/>
          </a:xfrm>
          <a:prstGeom prst="rect">
            <a:avLst/>
          </a:prstGeom>
          <a:noFill/>
          <a:ln>
            <a:noFill/>
          </a:ln>
        </p:spPr>
      </p:pic>
      <p:pic>
        <p:nvPicPr>
          <p:cNvPr descr="image.png" id="165" name="Google Shape;165;p15"/>
          <p:cNvPicPr preferRelativeResize="0"/>
          <p:nvPr/>
        </p:nvPicPr>
        <p:blipFill rotWithShape="1">
          <a:blip r:embed="rId6">
            <a:alphaModFix/>
          </a:blip>
          <a:srcRect b="0" l="0" r="0" t="0"/>
          <a:stretch/>
        </p:blipFill>
        <p:spPr>
          <a:xfrm>
            <a:off x="6715125" y="5057775"/>
            <a:ext cx="76200" cy="76200"/>
          </a:xfrm>
          <a:prstGeom prst="rect">
            <a:avLst/>
          </a:prstGeom>
          <a:noFill/>
          <a:ln>
            <a:noFill/>
          </a:ln>
        </p:spPr>
      </p:pic>
      <p:pic>
        <p:nvPicPr>
          <p:cNvPr descr="image.png" id="166" name="Google Shape;166;p15"/>
          <p:cNvPicPr preferRelativeResize="0"/>
          <p:nvPr/>
        </p:nvPicPr>
        <p:blipFill rotWithShape="1">
          <a:blip r:embed="rId6">
            <a:alphaModFix/>
          </a:blip>
          <a:srcRect b="0" l="0" r="0" t="0"/>
          <a:stretch/>
        </p:blipFill>
        <p:spPr>
          <a:xfrm>
            <a:off x="6715125" y="5476875"/>
            <a:ext cx="76200" cy="76200"/>
          </a:xfrm>
          <a:prstGeom prst="rect">
            <a:avLst/>
          </a:prstGeom>
          <a:noFill/>
          <a:ln>
            <a:noFill/>
          </a:ln>
        </p:spPr>
      </p:pic>
      <p:sp>
        <p:nvSpPr>
          <p:cNvPr id="167" name="Google Shape;167;p15"/>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API Specification là gì?</a:t>
            </a:r>
            <a:endParaRPr/>
          </a:p>
        </p:txBody>
      </p:sp>
      <p:sp>
        <p:nvSpPr>
          <p:cNvPr id="168" name="Google Shape;168;p15"/>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2" name="Shape 172"/>
        <p:cNvGrpSpPr/>
        <p:nvPr/>
      </p:nvGrpSpPr>
      <p:grpSpPr>
        <a:xfrm>
          <a:off x="0" y="0"/>
          <a:ext cx="0" cy="0"/>
          <a:chOff x="0" y="0"/>
          <a:chExt cx="0" cy="0"/>
        </a:xfrm>
      </p:grpSpPr>
      <p:pic>
        <p:nvPicPr>
          <p:cNvPr descr="image.png" id="173" name="Google Shape;173;p1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174" name="Google Shape;174;p16"/>
          <p:cNvPicPr preferRelativeResize="0"/>
          <p:nvPr/>
        </p:nvPicPr>
        <p:blipFill rotWithShape="1">
          <a:blip r:embed="rId4">
            <a:alphaModFix/>
          </a:blip>
          <a:srcRect b="0" l="0" r="0" t="0"/>
          <a:stretch/>
        </p:blipFill>
        <p:spPr>
          <a:xfrm>
            <a:off x="609600" y="1372075"/>
            <a:ext cx="10972800" cy="1227763"/>
          </a:xfrm>
          <a:prstGeom prst="rect">
            <a:avLst/>
          </a:prstGeom>
          <a:noFill/>
          <a:ln>
            <a:noFill/>
          </a:ln>
        </p:spPr>
      </p:pic>
      <p:pic>
        <p:nvPicPr>
          <p:cNvPr descr="image.png" id="175" name="Google Shape;175;p16"/>
          <p:cNvPicPr preferRelativeResize="0"/>
          <p:nvPr/>
        </p:nvPicPr>
        <p:blipFill rotWithShape="1">
          <a:blip r:embed="rId5">
            <a:alphaModFix/>
          </a:blip>
          <a:srcRect b="0" l="0" r="0" t="0"/>
          <a:stretch/>
        </p:blipFill>
        <p:spPr>
          <a:xfrm>
            <a:off x="6324600" y="2705100"/>
            <a:ext cx="5257800" cy="3855425"/>
          </a:xfrm>
          <a:prstGeom prst="rect">
            <a:avLst/>
          </a:prstGeom>
          <a:noFill/>
          <a:ln>
            <a:noFill/>
          </a:ln>
        </p:spPr>
      </p:pic>
      <p:pic>
        <p:nvPicPr>
          <p:cNvPr descr="image.png" id="176" name="Google Shape;176;p16"/>
          <p:cNvPicPr preferRelativeResize="0"/>
          <p:nvPr/>
        </p:nvPicPr>
        <p:blipFill rotWithShape="1">
          <a:blip r:embed="rId6">
            <a:alphaModFix/>
          </a:blip>
          <a:srcRect b="0" l="0" r="0" t="0"/>
          <a:stretch/>
        </p:blipFill>
        <p:spPr>
          <a:xfrm>
            <a:off x="923925" y="1914525"/>
            <a:ext cx="1857375" cy="361950"/>
          </a:xfrm>
          <a:prstGeom prst="rect">
            <a:avLst/>
          </a:prstGeom>
          <a:noFill/>
          <a:ln>
            <a:noFill/>
          </a:ln>
        </p:spPr>
      </p:pic>
      <p:pic>
        <p:nvPicPr>
          <p:cNvPr descr="image.png" id="177" name="Google Shape;177;p16"/>
          <p:cNvPicPr preferRelativeResize="0"/>
          <p:nvPr/>
        </p:nvPicPr>
        <p:blipFill rotWithShape="1">
          <a:blip r:embed="rId7">
            <a:alphaModFix/>
          </a:blip>
          <a:srcRect b="0" l="0" r="0" t="0"/>
          <a:stretch/>
        </p:blipFill>
        <p:spPr>
          <a:xfrm>
            <a:off x="5181600" y="1914525"/>
            <a:ext cx="2038350" cy="361950"/>
          </a:xfrm>
          <a:prstGeom prst="rect">
            <a:avLst/>
          </a:prstGeom>
          <a:noFill/>
          <a:ln>
            <a:noFill/>
          </a:ln>
        </p:spPr>
      </p:pic>
      <p:pic>
        <p:nvPicPr>
          <p:cNvPr descr="image.png" id="178" name="Google Shape;178;p16"/>
          <p:cNvPicPr preferRelativeResize="0"/>
          <p:nvPr/>
        </p:nvPicPr>
        <p:blipFill rotWithShape="1">
          <a:blip r:embed="rId8">
            <a:alphaModFix/>
          </a:blip>
          <a:srcRect b="0" l="0" r="0" t="0"/>
          <a:stretch/>
        </p:blipFill>
        <p:spPr>
          <a:xfrm>
            <a:off x="9620250" y="1914525"/>
            <a:ext cx="1647825" cy="361950"/>
          </a:xfrm>
          <a:prstGeom prst="rect">
            <a:avLst/>
          </a:prstGeom>
          <a:noFill/>
          <a:ln>
            <a:noFill/>
          </a:ln>
        </p:spPr>
      </p:pic>
      <p:sp>
        <p:nvSpPr>
          <p:cNvPr id="179" name="Google Shape;179;p16"/>
          <p:cNvSpPr txBox="1"/>
          <p:nvPr/>
        </p:nvSpPr>
        <p:spPr>
          <a:xfrm>
            <a:off x="923925" y="1571625"/>
            <a:ext cx="10861357"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369A1"/>
                </a:solidFill>
                <a:latin typeface="Inter"/>
                <a:ea typeface="Inter"/>
                <a:cs typeface="Inter"/>
                <a:sym typeface="Inter"/>
              </a:rPr>
              <a:t>Lịch sử ngắn gọn</a:t>
            </a:r>
            <a:endParaRPr/>
          </a:p>
        </p:txBody>
      </p:sp>
      <p:sp>
        <p:nvSpPr>
          <p:cNvPr id="180" name="Google Shape;180;p16"/>
          <p:cNvSpPr/>
          <p:nvPr/>
        </p:nvSpPr>
        <p:spPr>
          <a:xfrm>
            <a:off x="1085852" y="2438313"/>
            <a:ext cx="9309900" cy="19200"/>
          </a:xfrm>
          <a:prstGeom prst="rect">
            <a:avLst/>
          </a:prstGeom>
          <a:solidFill>
            <a:srgbClr val="CBD5E1"/>
          </a:solidFill>
          <a:ln cap="flat" cmpd="sng" w="9525">
            <a:solidFill>
              <a:srgbClr val="00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81" name="Google Shape;181;p16"/>
          <p:cNvSpPr txBox="1"/>
          <p:nvPr/>
        </p:nvSpPr>
        <p:spPr>
          <a:xfrm>
            <a:off x="609600" y="2705100"/>
            <a:ext cx="552069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Swagger vs OpenAPI</a:t>
            </a:r>
            <a:endParaRPr/>
          </a:p>
        </p:txBody>
      </p:sp>
      <p:sp>
        <p:nvSpPr>
          <p:cNvPr id="182" name="Google Shape;182;p16"/>
          <p:cNvSpPr txBox="1"/>
          <p:nvPr/>
        </p:nvSpPr>
        <p:spPr>
          <a:xfrm>
            <a:off x="609600" y="3181350"/>
            <a:ext cx="5257800" cy="243780"/>
          </a:xfrm>
          <a:prstGeom prst="rect">
            <a:avLst/>
          </a:prstGeom>
          <a:noFill/>
          <a:ln>
            <a:noFill/>
          </a:ln>
        </p:spPr>
        <p:txBody>
          <a:bodyPr anchorCtr="0" anchor="t" bIns="0" lIns="15240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EF4444"/>
                </a:solidFill>
                <a:latin typeface="Inter"/>
                <a:ea typeface="Inter"/>
                <a:cs typeface="Inter"/>
                <a:sym typeface="Inter"/>
              </a:rPr>
              <a:t>Nhiều người gọi lẫn lộn, nhưng bản chất khác nhau:</a:t>
            </a:r>
            <a:endParaRPr/>
          </a:p>
        </p:txBody>
      </p:sp>
      <p:sp>
        <p:nvSpPr>
          <p:cNvPr id="183" name="Google Shape;183;p16"/>
          <p:cNvSpPr/>
          <p:nvPr/>
        </p:nvSpPr>
        <p:spPr>
          <a:xfrm>
            <a:off x="609600" y="3577530"/>
            <a:ext cx="5257800" cy="276225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184" name="Google Shape;184;p16"/>
          <p:cNvGraphicFramePr/>
          <p:nvPr/>
        </p:nvGraphicFramePr>
        <p:xfrm>
          <a:off x="609600" y="3577530"/>
          <a:ext cx="3000000" cy="3000000"/>
        </p:xfrm>
        <a:graphic>
          <a:graphicData uri="http://schemas.openxmlformats.org/drawingml/2006/table">
            <a:tbl>
              <a:tblPr bandRow="1" firstRow="1">
                <a:noFill/>
                <a:tableStyleId>{71C36EBE-E20A-4936-B9F0-920A7353A307}</a:tableStyleId>
              </a:tblPr>
              <a:tblGrid>
                <a:gridCol w="1266075"/>
                <a:gridCol w="3991725"/>
              </a:tblGrid>
              <a:tr h="920750">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Thuật ngữ</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Ý nghĩa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920750">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OpenAPI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Tên chuẩn specification (bản spec quy định cú pháp).</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920750">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Swagger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Bộ công cụ hỗ trợ: Swagger UI, Swagger Editor, Swagger Codegen.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85" name="Google Shape;185;p16"/>
          <p:cNvSpPr txBox="1"/>
          <p:nvPr/>
        </p:nvSpPr>
        <p:spPr>
          <a:xfrm>
            <a:off x="6638925" y="3019425"/>
            <a:ext cx="4860607"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Lợi ích cốt lõi</a:t>
            </a:r>
            <a:endParaRPr/>
          </a:p>
        </p:txBody>
      </p:sp>
      <p:sp>
        <p:nvSpPr>
          <p:cNvPr id="186" name="Google Shape;186;p16"/>
          <p:cNvSpPr txBox="1"/>
          <p:nvPr/>
        </p:nvSpPr>
        <p:spPr>
          <a:xfrm>
            <a:off x="1085850" y="2000250"/>
            <a:ext cx="381000"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34155"/>
                </a:solidFill>
                <a:latin typeface="Inter"/>
                <a:ea typeface="Inter"/>
                <a:cs typeface="Inter"/>
                <a:sym typeface="Inter"/>
              </a:rPr>
              <a:t>2011:</a:t>
            </a:r>
            <a:endParaRPr/>
          </a:p>
        </p:txBody>
      </p:sp>
      <p:sp>
        <p:nvSpPr>
          <p:cNvPr id="187" name="Google Shape;187;p16"/>
          <p:cNvSpPr txBox="1"/>
          <p:nvPr/>
        </p:nvSpPr>
        <p:spPr>
          <a:xfrm>
            <a:off x="5343525" y="2000250"/>
            <a:ext cx="40957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34155"/>
                </a:solidFill>
                <a:latin typeface="Inter"/>
                <a:ea typeface="Inter"/>
                <a:cs typeface="Inter"/>
                <a:sym typeface="Inter"/>
              </a:rPr>
              <a:t>2015:</a:t>
            </a:r>
            <a:endParaRPr/>
          </a:p>
        </p:txBody>
      </p:sp>
      <p:sp>
        <p:nvSpPr>
          <p:cNvPr id="188" name="Google Shape;188;p16"/>
          <p:cNvSpPr txBox="1"/>
          <p:nvPr/>
        </p:nvSpPr>
        <p:spPr>
          <a:xfrm>
            <a:off x="9782175" y="2000250"/>
            <a:ext cx="409575" cy="19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200" u="none" cap="none" strike="noStrike">
                <a:solidFill>
                  <a:srgbClr val="334155"/>
                </a:solidFill>
                <a:latin typeface="Inter"/>
                <a:ea typeface="Inter"/>
                <a:cs typeface="Inter"/>
                <a:sym typeface="Inter"/>
              </a:rPr>
              <a:t>2021:</a:t>
            </a:r>
            <a:endParaRPr/>
          </a:p>
        </p:txBody>
      </p:sp>
      <p:pic>
        <p:nvPicPr>
          <p:cNvPr descr="image.png" id="189" name="Google Shape;189;p16"/>
          <p:cNvPicPr preferRelativeResize="0"/>
          <p:nvPr/>
        </p:nvPicPr>
        <p:blipFill rotWithShape="1">
          <a:blip r:embed="rId9">
            <a:alphaModFix/>
          </a:blip>
          <a:srcRect b="0" l="0" r="0" t="0"/>
          <a:stretch/>
        </p:blipFill>
        <p:spPr>
          <a:xfrm>
            <a:off x="609600" y="3219450"/>
            <a:ext cx="152400" cy="152400"/>
          </a:xfrm>
          <a:prstGeom prst="rect">
            <a:avLst/>
          </a:prstGeom>
          <a:noFill/>
          <a:ln>
            <a:noFill/>
          </a:ln>
        </p:spPr>
      </p:pic>
      <p:sp>
        <p:nvSpPr>
          <p:cNvPr id="190" name="Google Shape;190;p16"/>
          <p:cNvSpPr/>
          <p:nvPr/>
        </p:nvSpPr>
        <p:spPr>
          <a:xfrm>
            <a:off x="609600" y="4487167"/>
            <a:ext cx="126608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6"/>
          <p:cNvSpPr/>
          <p:nvPr/>
        </p:nvSpPr>
        <p:spPr>
          <a:xfrm>
            <a:off x="1875680" y="4487167"/>
            <a:ext cx="39917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2" name="Google Shape;192;p16"/>
          <p:cNvSpPr txBox="1"/>
          <p:nvPr/>
        </p:nvSpPr>
        <p:spPr>
          <a:xfrm>
            <a:off x="6943725" y="3495675"/>
            <a:ext cx="43243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Tạo tài liệu tự động:</a:t>
            </a:r>
            <a:r>
              <a:rPr b="0" i="0" lang="en-US" sz="1500" u="none" cap="none" strike="noStrike">
                <a:solidFill>
                  <a:srgbClr val="334155"/>
                </a:solidFill>
                <a:latin typeface="Inter"/>
                <a:ea typeface="Inter"/>
                <a:cs typeface="Inter"/>
                <a:sym typeface="Inter"/>
              </a:rPr>
              <a:t> Dùng Swagger UI để hiển thị web đẹp mắt.</a:t>
            </a:r>
            <a:endParaRPr/>
          </a:p>
        </p:txBody>
      </p:sp>
      <p:sp>
        <p:nvSpPr>
          <p:cNvPr id="193" name="Google Shape;193;p16"/>
          <p:cNvSpPr txBox="1"/>
          <p:nvPr/>
        </p:nvSpPr>
        <p:spPr>
          <a:xfrm>
            <a:off x="6943725" y="4219575"/>
            <a:ext cx="43243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Generate test cases:</a:t>
            </a:r>
            <a:r>
              <a:rPr b="0" i="0" lang="en-US" sz="1500" u="none" cap="none" strike="noStrike">
                <a:solidFill>
                  <a:srgbClr val="334155"/>
                </a:solidFill>
                <a:latin typeface="Inter"/>
                <a:ea typeface="Inter"/>
                <a:cs typeface="Inter"/>
                <a:sym typeface="Inter"/>
              </a:rPr>
              <a:t> Tự động tạo kịch bản kiểm thử.</a:t>
            </a:r>
            <a:endParaRPr/>
          </a:p>
        </p:txBody>
      </p:sp>
      <p:sp>
        <p:nvSpPr>
          <p:cNvPr id="194" name="Google Shape;194;p16"/>
          <p:cNvSpPr txBox="1"/>
          <p:nvPr/>
        </p:nvSpPr>
        <p:spPr>
          <a:xfrm>
            <a:off x="6943725" y="4943475"/>
            <a:ext cx="43243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Generate code:</a:t>
            </a:r>
            <a:r>
              <a:rPr b="0" i="0" lang="en-US" sz="1500" u="none" cap="none" strike="noStrike">
                <a:solidFill>
                  <a:srgbClr val="334155"/>
                </a:solidFill>
                <a:latin typeface="Inter"/>
                <a:ea typeface="Inter"/>
                <a:cs typeface="Inter"/>
                <a:sym typeface="Inter"/>
              </a:rPr>
              <a:t> Tạo sẵn code cho Client SDK hoặc Server stub.</a:t>
            </a:r>
            <a:endParaRPr/>
          </a:p>
        </p:txBody>
      </p:sp>
      <p:sp>
        <p:nvSpPr>
          <p:cNvPr id="195" name="Google Shape;195;p16"/>
          <p:cNvSpPr txBox="1"/>
          <p:nvPr/>
        </p:nvSpPr>
        <p:spPr>
          <a:xfrm>
            <a:off x="6943725" y="5667375"/>
            <a:ext cx="432435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Validate dữ liệu:</a:t>
            </a:r>
            <a:r>
              <a:rPr b="0" i="0" lang="en-US" sz="1500" u="none" cap="none" strike="noStrike">
                <a:solidFill>
                  <a:srgbClr val="334155"/>
                </a:solidFill>
                <a:latin typeface="Inter"/>
                <a:ea typeface="Inter"/>
                <a:cs typeface="Inter"/>
                <a:sym typeface="Inter"/>
              </a:rPr>
              <a:t> Kiểm tra request/response có đúng chuẩn không.</a:t>
            </a:r>
            <a:endParaRPr/>
          </a:p>
        </p:txBody>
      </p:sp>
      <p:sp>
        <p:nvSpPr>
          <p:cNvPr id="196" name="Google Shape;196;p16"/>
          <p:cNvSpPr/>
          <p:nvPr/>
        </p:nvSpPr>
        <p:spPr>
          <a:xfrm>
            <a:off x="609600" y="5411092"/>
            <a:ext cx="126608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7" name="Google Shape;197;p16"/>
          <p:cNvSpPr/>
          <p:nvPr/>
        </p:nvSpPr>
        <p:spPr>
          <a:xfrm>
            <a:off x="1875680" y="5411092"/>
            <a:ext cx="3991719"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198" name="Google Shape;198;p16"/>
          <p:cNvPicPr preferRelativeResize="0"/>
          <p:nvPr/>
        </p:nvPicPr>
        <p:blipFill rotWithShape="1">
          <a:blip r:embed="rId10">
            <a:alphaModFix/>
          </a:blip>
          <a:srcRect b="0" l="0" r="0" t="0"/>
          <a:stretch/>
        </p:blipFill>
        <p:spPr>
          <a:xfrm>
            <a:off x="6638925" y="3548062"/>
            <a:ext cx="219075" cy="200025"/>
          </a:xfrm>
          <a:prstGeom prst="rect">
            <a:avLst/>
          </a:prstGeom>
          <a:noFill/>
          <a:ln>
            <a:noFill/>
          </a:ln>
        </p:spPr>
      </p:pic>
      <p:pic>
        <p:nvPicPr>
          <p:cNvPr descr="image.png" id="199" name="Google Shape;199;p16"/>
          <p:cNvPicPr preferRelativeResize="0"/>
          <p:nvPr/>
        </p:nvPicPr>
        <p:blipFill rotWithShape="1">
          <a:blip r:embed="rId11">
            <a:alphaModFix/>
          </a:blip>
          <a:srcRect b="0" l="0" r="0" t="0"/>
          <a:stretch/>
        </p:blipFill>
        <p:spPr>
          <a:xfrm>
            <a:off x="6638925" y="4271962"/>
            <a:ext cx="190500" cy="200025"/>
          </a:xfrm>
          <a:prstGeom prst="rect">
            <a:avLst/>
          </a:prstGeom>
          <a:noFill/>
          <a:ln>
            <a:noFill/>
          </a:ln>
        </p:spPr>
      </p:pic>
      <p:pic>
        <p:nvPicPr>
          <p:cNvPr descr="image.png" id="200" name="Google Shape;200;p16"/>
          <p:cNvPicPr preferRelativeResize="0"/>
          <p:nvPr/>
        </p:nvPicPr>
        <p:blipFill rotWithShape="1">
          <a:blip r:embed="rId12">
            <a:alphaModFix/>
          </a:blip>
          <a:srcRect b="0" l="0" r="0" t="0"/>
          <a:stretch/>
        </p:blipFill>
        <p:spPr>
          <a:xfrm>
            <a:off x="6638925" y="4995862"/>
            <a:ext cx="238125" cy="200025"/>
          </a:xfrm>
          <a:prstGeom prst="rect">
            <a:avLst/>
          </a:prstGeom>
          <a:noFill/>
          <a:ln>
            <a:noFill/>
          </a:ln>
        </p:spPr>
      </p:pic>
      <p:pic>
        <p:nvPicPr>
          <p:cNvPr descr="image.png" id="201" name="Google Shape;201;p16"/>
          <p:cNvPicPr preferRelativeResize="0"/>
          <p:nvPr/>
        </p:nvPicPr>
        <p:blipFill rotWithShape="1">
          <a:blip r:embed="rId13">
            <a:alphaModFix/>
          </a:blip>
          <a:srcRect b="0" l="0" r="0" t="0"/>
          <a:stretch/>
        </p:blipFill>
        <p:spPr>
          <a:xfrm>
            <a:off x="6638925" y="5719762"/>
            <a:ext cx="190500" cy="200025"/>
          </a:xfrm>
          <a:prstGeom prst="rect">
            <a:avLst/>
          </a:prstGeom>
          <a:noFill/>
          <a:ln>
            <a:noFill/>
          </a:ln>
        </p:spPr>
      </p:pic>
      <p:sp>
        <p:nvSpPr>
          <p:cNvPr id="202" name="Google Shape;202;p16"/>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OpenAPI (Swagger) là gì?</a:t>
            </a:r>
            <a:endParaRPr/>
          </a:p>
        </p:txBody>
      </p:sp>
      <p:sp>
        <p:nvSpPr>
          <p:cNvPr id="203" name="Google Shape;203;p16"/>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7" name="Shape 207"/>
        <p:cNvGrpSpPr/>
        <p:nvPr/>
      </p:nvGrpSpPr>
      <p:grpSpPr>
        <a:xfrm>
          <a:off x="0" y="0"/>
          <a:ext cx="0" cy="0"/>
          <a:chOff x="0" y="0"/>
          <a:chExt cx="0" cy="0"/>
        </a:xfrm>
      </p:grpSpPr>
      <p:pic>
        <p:nvPicPr>
          <p:cNvPr descr="image.png" id="208" name="Google Shape;208;p17"/>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09" name="Google Shape;209;p17"/>
          <p:cNvSpPr txBox="1"/>
          <p:nvPr/>
        </p:nvSpPr>
        <p:spPr>
          <a:xfrm>
            <a:off x="6741169" y="1371600"/>
            <a:ext cx="5083291"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4 phần chính cần nhớ</a:t>
            </a:r>
            <a:endParaRPr/>
          </a:p>
        </p:txBody>
      </p:sp>
      <p:sp>
        <p:nvSpPr>
          <p:cNvPr id="210" name="Google Shape;210;p17"/>
          <p:cNvSpPr txBox="1"/>
          <p:nvPr/>
        </p:nvSpPr>
        <p:spPr>
          <a:xfrm>
            <a:off x="6741169" y="1847850"/>
            <a:ext cx="484123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Dù file OpenAPI dài hay ngắn, nó luôn được xây dựng dựa trên 4 khối chính này:</a:t>
            </a:r>
            <a:endParaRPr/>
          </a:p>
        </p:txBody>
      </p:sp>
      <p:sp>
        <p:nvSpPr>
          <p:cNvPr id="211" name="Google Shape;211;p17"/>
          <p:cNvSpPr/>
          <p:nvPr/>
        </p:nvSpPr>
        <p:spPr>
          <a:xfrm>
            <a:off x="6741169" y="2609850"/>
            <a:ext cx="4841230" cy="371475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12" name="Google Shape;212;p17"/>
          <p:cNvGraphicFramePr/>
          <p:nvPr/>
        </p:nvGraphicFramePr>
        <p:xfrm>
          <a:off x="6741169" y="2609850"/>
          <a:ext cx="3000000" cy="3000000"/>
        </p:xfrm>
        <a:graphic>
          <a:graphicData uri="http://schemas.openxmlformats.org/drawingml/2006/table">
            <a:tbl>
              <a:tblPr bandRow="1" firstRow="1">
                <a:noFill/>
                <a:tableStyleId>{71C36EBE-E20A-4936-B9F0-920A7353A307}</a:tableStyleId>
              </a:tblPr>
              <a:tblGrid>
                <a:gridCol w="1333500"/>
                <a:gridCol w="3507725"/>
              </a:tblGrid>
              <a:tr h="742950">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Phần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Vai trò</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74295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info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Tên, mô tả, phiên bản của API.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4295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servers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URL của API server (Dev, Staging, Prod).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4295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paths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Định nghĩa chi tiết từng endpoint.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4295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components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Khai báo các Schema dùng chung, tránh lặp lại code.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13" name="Google Shape;213;p17"/>
          <p:cNvSpPr/>
          <p:nvPr/>
        </p:nvSpPr>
        <p:spPr>
          <a:xfrm>
            <a:off x="6741169" y="3214687"/>
            <a:ext cx="13335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4" name="Google Shape;214;p17"/>
          <p:cNvSpPr/>
          <p:nvPr/>
        </p:nvSpPr>
        <p:spPr>
          <a:xfrm>
            <a:off x="8074669" y="3214687"/>
            <a:ext cx="35077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5" name="Google Shape;215;p17"/>
          <p:cNvSpPr/>
          <p:nvPr/>
        </p:nvSpPr>
        <p:spPr>
          <a:xfrm>
            <a:off x="6741169" y="3843337"/>
            <a:ext cx="13335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6" name="Google Shape;216;p17"/>
          <p:cNvSpPr/>
          <p:nvPr/>
        </p:nvSpPr>
        <p:spPr>
          <a:xfrm>
            <a:off x="8074669" y="3843337"/>
            <a:ext cx="35077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7" name="Google Shape;217;p17"/>
          <p:cNvSpPr/>
          <p:nvPr/>
        </p:nvSpPr>
        <p:spPr>
          <a:xfrm>
            <a:off x="6741169" y="4767262"/>
            <a:ext cx="13335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8" name="Google Shape;218;p17"/>
          <p:cNvSpPr/>
          <p:nvPr/>
        </p:nvSpPr>
        <p:spPr>
          <a:xfrm>
            <a:off x="8074669" y="4767262"/>
            <a:ext cx="35077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19" name="Google Shape;219;p17"/>
          <p:cNvSpPr/>
          <p:nvPr/>
        </p:nvSpPr>
        <p:spPr>
          <a:xfrm>
            <a:off x="6741169" y="5395912"/>
            <a:ext cx="13335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0" name="Google Shape;220;p17"/>
          <p:cNvSpPr/>
          <p:nvPr/>
        </p:nvSpPr>
        <p:spPr>
          <a:xfrm>
            <a:off x="8074669" y="5395912"/>
            <a:ext cx="350773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21" name="Google Shape;221;p17"/>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Cấu trúc file OpenAPI — Tổng quan</a:t>
            </a:r>
            <a:endParaRPr/>
          </a:p>
        </p:txBody>
      </p:sp>
      <p:sp>
        <p:nvSpPr>
          <p:cNvPr id="222" name="Google Shape;222;p17"/>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pic>
        <p:nvPicPr>
          <p:cNvPr descr="image.png" id="227" name="Google Shape;227;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228" name="Google Shape;228;p18"/>
          <p:cNvPicPr preferRelativeResize="0"/>
          <p:nvPr/>
        </p:nvPicPr>
        <p:blipFill rotWithShape="1">
          <a:blip r:embed="rId4">
            <a:alphaModFix/>
          </a:blip>
          <a:srcRect b="0" l="0" r="0" t="0"/>
          <a:stretch/>
        </p:blipFill>
        <p:spPr>
          <a:xfrm>
            <a:off x="6324600" y="4543425"/>
            <a:ext cx="5257800" cy="811410"/>
          </a:xfrm>
          <a:prstGeom prst="rect">
            <a:avLst/>
          </a:prstGeom>
          <a:noFill/>
          <a:ln>
            <a:noFill/>
          </a:ln>
        </p:spPr>
      </p:pic>
      <p:sp>
        <p:nvSpPr>
          <p:cNvPr id="229" name="Google Shape;229;p18"/>
          <p:cNvSpPr txBox="1"/>
          <p:nvPr/>
        </p:nvSpPr>
        <p:spPr>
          <a:xfrm>
            <a:off x="609600" y="1371600"/>
            <a:ext cx="552069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info — Thông tin API</a:t>
            </a:r>
            <a:endParaRPr/>
          </a:p>
        </p:txBody>
      </p:sp>
      <p:sp>
        <p:nvSpPr>
          <p:cNvPr id="230" name="Google Shape;230;p18"/>
          <p:cNvSpPr txBox="1"/>
          <p:nvPr/>
        </p:nvSpPr>
        <p:spPr>
          <a:xfrm>
            <a:off x="609600" y="1885950"/>
            <a:ext cx="52578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Cung cấp metadata cơ bản để hiển thị trên tiêu đề của trang tài liệu.</a:t>
            </a:r>
            <a:endParaRPr/>
          </a:p>
        </p:txBody>
      </p:sp>
      <p:sp>
        <p:nvSpPr>
          <p:cNvPr id="231" name="Google Shape;231;p18"/>
          <p:cNvSpPr txBox="1"/>
          <p:nvPr/>
        </p:nvSpPr>
        <p:spPr>
          <a:xfrm>
            <a:off x="6324600" y="1371600"/>
            <a:ext cx="5520690" cy="3619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servers — Địa chỉ triển khai</a:t>
            </a:r>
            <a:endParaRPr/>
          </a:p>
        </p:txBody>
      </p:sp>
      <p:sp>
        <p:nvSpPr>
          <p:cNvPr id="232" name="Google Shape;232;p18"/>
          <p:cNvSpPr txBox="1"/>
          <p:nvPr/>
        </p:nvSpPr>
        <p:spPr>
          <a:xfrm>
            <a:off x="6324600" y="1885950"/>
            <a:ext cx="5257800" cy="6096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Khai báo danh sách các server để client có thể gọi thử nghiệm trực tiếp trên Swagger UI.</a:t>
            </a:r>
            <a:endParaRPr/>
          </a:p>
        </p:txBody>
      </p:sp>
      <p:sp>
        <p:nvSpPr>
          <p:cNvPr id="233" name="Google Shape;233;p18"/>
          <p:cNvSpPr txBox="1"/>
          <p:nvPr/>
        </p:nvSpPr>
        <p:spPr>
          <a:xfrm>
            <a:off x="6486525" y="4705350"/>
            <a:ext cx="4933950" cy="487560"/>
          </a:xfrm>
          <a:prstGeom prst="rect">
            <a:avLst/>
          </a:prstGeom>
          <a:noFill/>
          <a:ln>
            <a:noFill/>
          </a:ln>
        </p:spPr>
        <p:txBody>
          <a:bodyPr anchorCtr="0" anchor="t" bIns="0" lIns="19050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334155"/>
                </a:solidFill>
                <a:latin typeface="Inter"/>
                <a:ea typeface="Inter"/>
                <a:cs typeface="Inter"/>
                <a:sym typeface="Inter"/>
              </a:rPr>
              <a:t>Tip:</a:t>
            </a:r>
            <a:r>
              <a:rPr b="0" i="0" lang="en-US" sz="1200" u="none" cap="none" strike="noStrike">
                <a:solidFill>
                  <a:srgbClr val="334155"/>
                </a:solidFill>
                <a:latin typeface="Inter"/>
                <a:ea typeface="Inter"/>
                <a:cs typeface="Inter"/>
                <a:sym typeface="Inter"/>
              </a:rPr>
              <a:t> Có thể khai báo nhiều môi trường (dev, staging, production) để tiện switch khi test.</a:t>
            </a:r>
            <a:endParaRPr/>
          </a:p>
        </p:txBody>
      </p:sp>
      <p:pic>
        <p:nvPicPr>
          <p:cNvPr descr="image.png" id="234" name="Google Shape;234;p18"/>
          <p:cNvPicPr preferRelativeResize="0"/>
          <p:nvPr/>
        </p:nvPicPr>
        <p:blipFill rotWithShape="1">
          <a:blip r:embed="rId5">
            <a:alphaModFix/>
          </a:blip>
          <a:srcRect b="0" l="0" r="0" t="0"/>
          <a:stretch/>
        </p:blipFill>
        <p:spPr>
          <a:xfrm>
            <a:off x="6486525" y="4743450"/>
            <a:ext cx="114300" cy="152400"/>
          </a:xfrm>
          <a:prstGeom prst="rect">
            <a:avLst/>
          </a:prstGeom>
          <a:noFill/>
          <a:ln>
            <a:noFill/>
          </a:ln>
        </p:spPr>
      </p:pic>
      <p:sp>
        <p:nvSpPr>
          <p:cNvPr id="235" name="Google Shape;235;p18"/>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Chi tiết: `info` &amp; `servers`</a:t>
            </a:r>
            <a:endParaRPr/>
          </a:p>
        </p:txBody>
      </p:sp>
      <p:sp>
        <p:nvSpPr>
          <p:cNvPr id="236" name="Google Shape;236;p18"/>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0" name="Shape 240"/>
        <p:cNvGrpSpPr/>
        <p:nvPr/>
      </p:nvGrpSpPr>
      <p:grpSpPr>
        <a:xfrm>
          <a:off x="0" y="0"/>
          <a:ext cx="0" cy="0"/>
          <a:chOff x="0" y="0"/>
          <a:chExt cx="0" cy="0"/>
        </a:xfrm>
      </p:grpSpPr>
      <p:pic>
        <p:nvPicPr>
          <p:cNvPr descr="image.png" id="241" name="Google Shape;241;p19"/>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42" name="Google Shape;242;p19"/>
          <p:cNvSpPr txBox="1"/>
          <p:nvPr/>
        </p:nvSpPr>
        <p:spPr>
          <a:xfrm>
            <a:off x="609600" y="1371600"/>
            <a:ext cx="552069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369A1"/>
                </a:solidFill>
                <a:latin typeface="Inter"/>
                <a:ea typeface="Inter"/>
                <a:cs typeface="Inter"/>
                <a:sym typeface="Inter"/>
              </a:rPr>
              <a:t>Ví dụ: GET /books</a:t>
            </a:r>
            <a:endParaRPr/>
          </a:p>
        </p:txBody>
      </p:sp>
      <p:sp>
        <p:nvSpPr>
          <p:cNvPr id="243" name="Google Shape;243;p19"/>
          <p:cNvSpPr txBox="1"/>
          <p:nvPr/>
        </p:nvSpPr>
        <p:spPr>
          <a:xfrm>
            <a:off x="6324600" y="1371600"/>
            <a:ext cx="552069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Giải thích từng field</a:t>
            </a:r>
            <a:endParaRPr/>
          </a:p>
        </p:txBody>
      </p:sp>
      <p:sp>
        <p:nvSpPr>
          <p:cNvPr id="244" name="Google Shape;244;p19"/>
          <p:cNvSpPr/>
          <p:nvPr/>
        </p:nvSpPr>
        <p:spPr>
          <a:xfrm>
            <a:off x="6324600" y="1847850"/>
            <a:ext cx="5257800" cy="44694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45" name="Google Shape;245;p19"/>
          <p:cNvGraphicFramePr/>
          <p:nvPr/>
        </p:nvGraphicFramePr>
        <p:xfrm>
          <a:off x="6324600" y="1847850"/>
          <a:ext cx="3000000" cy="3000000"/>
        </p:xfrm>
        <a:graphic>
          <a:graphicData uri="http://schemas.openxmlformats.org/drawingml/2006/table">
            <a:tbl>
              <a:tblPr bandRow="1" firstRow="1">
                <a:noFill/>
                <a:tableStyleId>{71C36EBE-E20A-4936-B9F0-920A7353A307}</a:tableStyleId>
              </a:tblPr>
              <a:tblGrid>
                <a:gridCol w="1428750"/>
                <a:gridCol w="3829050"/>
              </a:tblGrid>
              <a:tr h="744900">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Field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Ý nghĩa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74490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summary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Mô tả ngắn (hiển thị tiêu đề trên Swagger UI)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4490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description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Mô tả chi tiết hơn về chức năng của endpoint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4490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operationId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ID duy nhất cho operation (rất quan trọng khi dùng tools tự động generate code)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4490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tags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Dùng để phân nhóm các endpoint liên quan lại với nhau trên UI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744925">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responses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Khai báo cấu trúc dữ liệu trả về theo từng status code cụ thể</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46" name="Google Shape;246;p19"/>
          <p:cNvSpPr/>
          <p:nvPr/>
        </p:nvSpPr>
        <p:spPr>
          <a:xfrm>
            <a:off x="6324600" y="2452687"/>
            <a:ext cx="14287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7" name="Google Shape;247;p19"/>
          <p:cNvSpPr/>
          <p:nvPr/>
        </p:nvSpPr>
        <p:spPr>
          <a:xfrm>
            <a:off x="7753350" y="2452687"/>
            <a:ext cx="38290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8" name="Google Shape;248;p19"/>
          <p:cNvSpPr/>
          <p:nvPr/>
        </p:nvSpPr>
        <p:spPr>
          <a:xfrm>
            <a:off x="6324600" y="3376612"/>
            <a:ext cx="14287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49" name="Google Shape;249;p19"/>
          <p:cNvSpPr/>
          <p:nvPr/>
        </p:nvSpPr>
        <p:spPr>
          <a:xfrm>
            <a:off x="7753350" y="3376612"/>
            <a:ext cx="38290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0" name="Google Shape;250;p19"/>
          <p:cNvSpPr/>
          <p:nvPr/>
        </p:nvSpPr>
        <p:spPr>
          <a:xfrm>
            <a:off x="6324600" y="4300537"/>
            <a:ext cx="14287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1" name="Google Shape;251;p19"/>
          <p:cNvSpPr/>
          <p:nvPr/>
        </p:nvSpPr>
        <p:spPr>
          <a:xfrm>
            <a:off x="7753350" y="4300537"/>
            <a:ext cx="38290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2" name="Google Shape;252;p19"/>
          <p:cNvSpPr/>
          <p:nvPr/>
        </p:nvSpPr>
        <p:spPr>
          <a:xfrm>
            <a:off x="6324600" y="5529262"/>
            <a:ext cx="14287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3" name="Google Shape;253;p19"/>
          <p:cNvSpPr/>
          <p:nvPr/>
        </p:nvSpPr>
        <p:spPr>
          <a:xfrm>
            <a:off x="7753350" y="5529262"/>
            <a:ext cx="38290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p19"/>
          <p:cNvSpPr/>
          <p:nvPr/>
        </p:nvSpPr>
        <p:spPr>
          <a:xfrm>
            <a:off x="6324600" y="6453187"/>
            <a:ext cx="14287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5" name="Google Shape;255;p19"/>
          <p:cNvSpPr/>
          <p:nvPr/>
        </p:nvSpPr>
        <p:spPr>
          <a:xfrm>
            <a:off x="7753350" y="6453187"/>
            <a:ext cx="382905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6" name="Google Shape;256;p19"/>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`paths` — Định nghĩa Endpoints</a:t>
            </a:r>
            <a:endParaRPr/>
          </a:p>
        </p:txBody>
      </p:sp>
      <p:sp>
        <p:nvSpPr>
          <p:cNvPr id="257" name="Google Shape;257;p19"/>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1" name="Shape 261"/>
        <p:cNvGrpSpPr/>
        <p:nvPr/>
      </p:nvGrpSpPr>
      <p:grpSpPr>
        <a:xfrm>
          <a:off x="0" y="0"/>
          <a:ext cx="0" cy="0"/>
          <a:chOff x="0" y="0"/>
          <a:chExt cx="0" cy="0"/>
        </a:xfrm>
      </p:grpSpPr>
      <p:pic>
        <p:nvPicPr>
          <p:cNvPr descr="image.png" id="262" name="Google Shape;262;p20"/>
          <p:cNvPicPr preferRelativeResize="0"/>
          <p:nvPr/>
        </p:nvPicPr>
        <p:blipFill rotWithShape="1">
          <a:blip r:embed="rId3">
            <a:alphaModFix/>
          </a:blip>
          <a:srcRect b="0" l="0" r="0" t="0"/>
          <a:stretch/>
        </p:blipFill>
        <p:spPr>
          <a:xfrm>
            <a:off x="609675" y="1276350"/>
            <a:ext cx="3454300" cy="3545085"/>
          </a:xfrm>
          <a:prstGeom prst="rect">
            <a:avLst/>
          </a:prstGeom>
          <a:noFill/>
          <a:ln>
            <a:noFill/>
          </a:ln>
        </p:spPr>
      </p:pic>
      <p:pic>
        <p:nvPicPr>
          <p:cNvPr descr="image.png" id="263" name="Google Shape;263;p20"/>
          <p:cNvPicPr preferRelativeResize="0"/>
          <p:nvPr/>
        </p:nvPicPr>
        <p:blipFill rotWithShape="1">
          <a:blip r:embed="rId4">
            <a:alphaModFix/>
          </a:blip>
          <a:srcRect b="0" l="0" r="0" t="0"/>
          <a:stretch/>
        </p:blipFill>
        <p:spPr>
          <a:xfrm>
            <a:off x="4368775" y="1276350"/>
            <a:ext cx="3454449" cy="3545085"/>
          </a:xfrm>
          <a:prstGeom prst="rect">
            <a:avLst/>
          </a:prstGeom>
          <a:noFill/>
          <a:ln>
            <a:noFill/>
          </a:ln>
        </p:spPr>
      </p:pic>
      <p:pic>
        <p:nvPicPr>
          <p:cNvPr descr="image.png" id="264" name="Google Shape;264;p20"/>
          <p:cNvPicPr preferRelativeResize="0"/>
          <p:nvPr/>
        </p:nvPicPr>
        <p:blipFill rotWithShape="1">
          <a:blip r:embed="rId5">
            <a:alphaModFix/>
          </a:blip>
          <a:srcRect b="0" l="0" r="0" t="0"/>
          <a:stretch/>
        </p:blipFill>
        <p:spPr>
          <a:xfrm>
            <a:off x="8128025" y="1276350"/>
            <a:ext cx="3454300" cy="3545085"/>
          </a:xfrm>
          <a:prstGeom prst="rect">
            <a:avLst/>
          </a:prstGeom>
          <a:noFill/>
          <a:ln>
            <a:noFill/>
          </a:ln>
        </p:spPr>
      </p:pic>
      <p:sp>
        <p:nvSpPr>
          <p:cNvPr id="265" name="Google Shape;265;p20"/>
          <p:cNvSpPr/>
          <p:nvPr/>
        </p:nvSpPr>
        <p:spPr>
          <a:xfrm>
            <a:off x="609600" y="5030978"/>
            <a:ext cx="10972800" cy="16248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66" name="Google Shape;266;p20"/>
          <p:cNvGraphicFramePr/>
          <p:nvPr/>
        </p:nvGraphicFramePr>
        <p:xfrm>
          <a:off x="609600" y="5030985"/>
          <a:ext cx="3000000" cy="3000000"/>
        </p:xfrm>
        <a:graphic>
          <a:graphicData uri="http://schemas.openxmlformats.org/drawingml/2006/table">
            <a:tbl>
              <a:tblPr bandRow="1" firstRow="1">
                <a:noFill/>
                <a:tableStyleId>{71C36EBE-E20A-4936-B9F0-920A7353A307}</a:tableStyleId>
              </a:tblPr>
              <a:tblGrid>
                <a:gridCol w="2259050"/>
                <a:gridCol w="5849400"/>
                <a:gridCol w="2864350"/>
              </a:tblGrid>
              <a:tr h="406225">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Loại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Ví dụ URL / Header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Từ khóa in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406225">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Path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/books/42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path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6225">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Query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/books?genre=fiction</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query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406225">
                <a:tc>
                  <a:txBody>
                    <a:bodyPr/>
                    <a:lstStyle/>
                    <a:p>
                      <a:pPr indent="0" lvl="0" marL="0" marR="0" rtl="0" algn="l">
                        <a:spcBef>
                          <a:spcPts val="0"/>
                        </a:spcBef>
                        <a:spcAft>
                          <a:spcPts val="0"/>
                        </a:spcAft>
                        <a:buNone/>
                      </a:pPr>
                      <a:r>
                        <a:rPr b="1" i="0" lang="en-US" sz="1500" u="none" cap="none" strike="noStrike">
                          <a:solidFill>
                            <a:srgbClr val="334155"/>
                          </a:solidFill>
                          <a:latin typeface="Inter"/>
                          <a:ea typeface="Inter"/>
                          <a:cs typeface="Inter"/>
                          <a:sym typeface="Inter"/>
                        </a:rPr>
                        <a:t>Header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Header: X-Request-ID: abc</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header</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67" name="Google Shape;267;p20"/>
          <p:cNvSpPr txBox="1"/>
          <p:nvPr/>
        </p:nvSpPr>
        <p:spPr>
          <a:xfrm>
            <a:off x="924000" y="1590675"/>
            <a:ext cx="29670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284C7"/>
                </a:solidFill>
                <a:latin typeface="Inter"/>
                <a:ea typeface="Inter"/>
                <a:cs typeface="Inter"/>
                <a:sym typeface="Inter"/>
              </a:rPr>
              <a:t>1. Path Parameter</a:t>
            </a:r>
            <a:endParaRPr/>
          </a:p>
        </p:txBody>
      </p:sp>
      <p:sp>
        <p:nvSpPr>
          <p:cNvPr id="268" name="Google Shape;268;p20"/>
          <p:cNvSpPr txBox="1"/>
          <p:nvPr/>
        </p:nvSpPr>
        <p:spPr>
          <a:xfrm>
            <a:off x="924000" y="1990725"/>
            <a:ext cx="2825700" cy="48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4155"/>
                </a:solidFill>
                <a:latin typeface="Inter"/>
                <a:ea typeface="Inter"/>
                <a:cs typeface="Inter"/>
                <a:sym typeface="Inter"/>
              </a:rPr>
              <a:t>Bắt buộc (required: true), nằm trực tiếp trong URL.</a:t>
            </a:r>
            <a:endParaRPr/>
          </a:p>
        </p:txBody>
      </p:sp>
      <p:sp>
        <p:nvSpPr>
          <p:cNvPr id="269" name="Google Shape;269;p20"/>
          <p:cNvSpPr txBox="1"/>
          <p:nvPr/>
        </p:nvSpPr>
        <p:spPr>
          <a:xfrm>
            <a:off x="4683100" y="1590675"/>
            <a:ext cx="29670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284C7"/>
                </a:solidFill>
                <a:latin typeface="Inter"/>
                <a:ea typeface="Inter"/>
                <a:cs typeface="Inter"/>
                <a:sym typeface="Inter"/>
              </a:rPr>
              <a:t>2. Query Parameter</a:t>
            </a:r>
            <a:endParaRPr/>
          </a:p>
        </p:txBody>
      </p:sp>
      <p:sp>
        <p:nvSpPr>
          <p:cNvPr id="270" name="Google Shape;270;p20"/>
          <p:cNvSpPr txBox="1"/>
          <p:nvPr/>
        </p:nvSpPr>
        <p:spPr>
          <a:xfrm>
            <a:off x="4683100" y="1990725"/>
            <a:ext cx="2825700" cy="48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4155"/>
                </a:solidFill>
                <a:latin typeface="Inter"/>
                <a:ea typeface="Inter"/>
                <a:cs typeface="Inter"/>
                <a:sym typeface="Inter"/>
              </a:rPr>
              <a:t>Thường dùng để filter/sort, nằm sau dấu ?.</a:t>
            </a:r>
            <a:endParaRPr/>
          </a:p>
        </p:txBody>
      </p:sp>
      <p:sp>
        <p:nvSpPr>
          <p:cNvPr id="271" name="Google Shape;271;p20"/>
          <p:cNvSpPr txBox="1"/>
          <p:nvPr/>
        </p:nvSpPr>
        <p:spPr>
          <a:xfrm>
            <a:off x="8442350" y="1590675"/>
            <a:ext cx="2967000" cy="254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650" u="none" cap="none" strike="noStrike">
                <a:solidFill>
                  <a:srgbClr val="0284C7"/>
                </a:solidFill>
                <a:latin typeface="Inter"/>
                <a:ea typeface="Inter"/>
                <a:cs typeface="Inter"/>
                <a:sym typeface="Inter"/>
              </a:rPr>
              <a:t>3. Header Parameter</a:t>
            </a:r>
            <a:endParaRPr/>
          </a:p>
        </p:txBody>
      </p:sp>
      <p:sp>
        <p:nvSpPr>
          <p:cNvPr id="272" name="Google Shape;272;p20"/>
          <p:cNvSpPr txBox="1"/>
          <p:nvPr/>
        </p:nvSpPr>
        <p:spPr>
          <a:xfrm>
            <a:off x="8442350" y="1990725"/>
            <a:ext cx="2825700" cy="48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200" u="none" cap="none" strike="noStrike">
                <a:solidFill>
                  <a:srgbClr val="334155"/>
                </a:solidFill>
                <a:latin typeface="Inter"/>
                <a:ea typeface="Inter"/>
                <a:cs typeface="Inter"/>
                <a:sym typeface="Inter"/>
              </a:rPr>
              <a:t>Truyền thông tin như token, request ID qua HTTP Headers.</a:t>
            </a:r>
            <a:endParaRPr/>
          </a:p>
        </p:txBody>
      </p:sp>
      <p:sp>
        <p:nvSpPr>
          <p:cNvPr id="273" name="Google Shape;273;p20"/>
          <p:cNvSpPr/>
          <p:nvPr/>
        </p:nvSpPr>
        <p:spPr>
          <a:xfrm>
            <a:off x="609600" y="6273998"/>
            <a:ext cx="22590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4" name="Google Shape;274;p20"/>
          <p:cNvSpPr/>
          <p:nvPr/>
        </p:nvSpPr>
        <p:spPr>
          <a:xfrm>
            <a:off x="2868662" y="6273998"/>
            <a:ext cx="58494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5" name="Google Shape;275;p20"/>
          <p:cNvSpPr/>
          <p:nvPr/>
        </p:nvSpPr>
        <p:spPr>
          <a:xfrm>
            <a:off x="8718053" y="6273998"/>
            <a:ext cx="28644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6" name="Google Shape;276;p20"/>
          <p:cNvSpPr/>
          <p:nvPr/>
        </p:nvSpPr>
        <p:spPr>
          <a:xfrm>
            <a:off x="609600" y="7016948"/>
            <a:ext cx="2259062"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7" name="Google Shape;277;p20"/>
          <p:cNvSpPr/>
          <p:nvPr/>
        </p:nvSpPr>
        <p:spPr>
          <a:xfrm>
            <a:off x="2868662" y="7016948"/>
            <a:ext cx="5849391"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8" name="Google Shape;278;p20"/>
          <p:cNvSpPr/>
          <p:nvPr/>
        </p:nvSpPr>
        <p:spPr>
          <a:xfrm>
            <a:off x="8718053" y="7016948"/>
            <a:ext cx="2864346"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9" name="Google Shape;279;p20"/>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`parameters` — Query, Path, Header</a:t>
            </a:r>
            <a:endParaRPr/>
          </a:p>
        </p:txBody>
      </p:sp>
      <p:sp>
        <p:nvSpPr>
          <p:cNvPr id="280" name="Google Shape;280;p20"/>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pic>
        <p:nvPicPr>
          <p:cNvPr descr="image.png" id="285" name="Google Shape;285;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286" name="Google Shape;286;p21"/>
          <p:cNvSpPr txBox="1"/>
          <p:nvPr/>
        </p:nvSpPr>
        <p:spPr>
          <a:xfrm>
            <a:off x="609600" y="1371600"/>
            <a:ext cx="5520690" cy="228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500" u="none" cap="none" strike="noStrike">
                <a:solidFill>
                  <a:srgbClr val="0369A1"/>
                </a:solidFill>
                <a:latin typeface="Inter"/>
                <a:ea typeface="Inter"/>
                <a:cs typeface="Inter"/>
                <a:sym typeface="Inter"/>
              </a:rPr>
              <a:t>Request Body (POST/PUT)</a:t>
            </a:r>
            <a:endParaRPr/>
          </a:p>
        </p:txBody>
      </p:sp>
      <p:sp>
        <p:nvSpPr>
          <p:cNvPr id="287" name="Google Shape;287;p21"/>
          <p:cNvSpPr txBox="1"/>
          <p:nvPr/>
        </p:nvSpPr>
        <p:spPr>
          <a:xfrm>
            <a:off x="6324600" y="1371600"/>
            <a:ext cx="5520690" cy="3238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Các status code thường dùng</a:t>
            </a:r>
            <a:endParaRPr/>
          </a:p>
        </p:txBody>
      </p:sp>
      <p:sp>
        <p:nvSpPr>
          <p:cNvPr id="288" name="Google Shape;288;p21"/>
          <p:cNvSpPr txBox="1"/>
          <p:nvPr/>
        </p:nvSpPr>
        <p:spPr>
          <a:xfrm>
            <a:off x="6324600" y="1847850"/>
            <a:ext cx="56124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Luôn khai báo rõ ràng các trường hợp thành công và thất bại:</a:t>
            </a:r>
            <a:endParaRPr/>
          </a:p>
        </p:txBody>
      </p:sp>
      <p:sp>
        <p:nvSpPr>
          <p:cNvPr id="289" name="Google Shape;289;p21"/>
          <p:cNvSpPr/>
          <p:nvPr/>
        </p:nvSpPr>
        <p:spPr>
          <a:xfrm>
            <a:off x="6324600" y="2609850"/>
            <a:ext cx="5257800" cy="38796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290" name="Google Shape;290;p21"/>
          <p:cNvGraphicFramePr/>
          <p:nvPr/>
        </p:nvGraphicFramePr>
        <p:xfrm>
          <a:off x="6324600" y="2231250"/>
          <a:ext cx="3000000" cy="3000000"/>
        </p:xfrm>
        <a:graphic>
          <a:graphicData uri="http://schemas.openxmlformats.org/drawingml/2006/table">
            <a:tbl>
              <a:tblPr bandRow="1" firstRow="1">
                <a:noFill/>
                <a:tableStyleId>{71C36EBE-E20A-4936-B9F0-920A7353A307}</a:tableStyleId>
              </a:tblPr>
              <a:tblGrid>
                <a:gridCol w="866775"/>
                <a:gridCol w="1752600"/>
                <a:gridCol w="2638425"/>
              </a:tblGrid>
              <a:tr h="608300">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Code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Ý nghĩa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Khi nào dùng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608300">
                <a:tc>
                  <a:txBody>
                    <a:bodyPr/>
                    <a:lstStyle/>
                    <a:p>
                      <a:pPr indent="0" lvl="0" marL="0" marR="0" rtl="0" algn="l">
                        <a:spcBef>
                          <a:spcPts val="0"/>
                        </a:spcBef>
                        <a:spcAft>
                          <a:spcPts val="0"/>
                        </a:spcAft>
                        <a:buNone/>
                      </a:pPr>
                      <a:r>
                        <a:rPr b="1" i="0" lang="en-US" sz="1500" u="none" cap="none" strike="noStrike">
                          <a:solidFill>
                            <a:srgbClr val="10B981"/>
                          </a:solidFill>
                          <a:latin typeface="Inter"/>
                          <a:ea typeface="Inter"/>
                          <a:cs typeface="Inter"/>
                          <a:sym typeface="Inter"/>
                        </a:rPr>
                        <a:t>200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OK</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GET, PUT thành công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8300">
                <a:tc>
                  <a:txBody>
                    <a:bodyPr/>
                    <a:lstStyle/>
                    <a:p>
                      <a:pPr indent="0" lvl="0" marL="0" marR="0" rtl="0" algn="l">
                        <a:spcBef>
                          <a:spcPts val="0"/>
                        </a:spcBef>
                        <a:spcAft>
                          <a:spcPts val="0"/>
                        </a:spcAft>
                        <a:buNone/>
                      </a:pPr>
                      <a:r>
                        <a:rPr b="1" i="0" lang="en-US" sz="1500" u="none" cap="none" strike="noStrike">
                          <a:solidFill>
                            <a:srgbClr val="10B981"/>
                          </a:solidFill>
                          <a:latin typeface="Inter"/>
                          <a:ea typeface="Inter"/>
                          <a:cs typeface="Inter"/>
                          <a:sym typeface="Inter"/>
                        </a:rPr>
                        <a:t>201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Created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POST tạo mới thành công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8300">
                <a:tc>
                  <a:txBody>
                    <a:bodyPr/>
                    <a:lstStyle/>
                    <a:p>
                      <a:pPr indent="0" lvl="0" marL="0" marR="0" rtl="0" algn="l">
                        <a:spcBef>
                          <a:spcPts val="0"/>
                        </a:spcBef>
                        <a:spcAft>
                          <a:spcPts val="0"/>
                        </a:spcAft>
                        <a:buNone/>
                      </a:pPr>
                      <a:r>
                        <a:rPr b="1" i="0" lang="en-US" sz="1500" u="none" cap="none" strike="noStrike">
                          <a:solidFill>
                            <a:srgbClr val="10B981"/>
                          </a:solidFill>
                          <a:latin typeface="Inter"/>
                          <a:ea typeface="Inter"/>
                          <a:cs typeface="Inter"/>
                          <a:sym typeface="Inter"/>
                        </a:rPr>
                        <a:t>204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No Content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DELETE thành công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8300">
                <a:tc>
                  <a:txBody>
                    <a:bodyPr/>
                    <a:lstStyle/>
                    <a:p>
                      <a:pPr indent="0" lvl="0" marL="0" marR="0" rtl="0" algn="l">
                        <a:spcBef>
                          <a:spcPts val="0"/>
                        </a:spcBef>
                        <a:spcAft>
                          <a:spcPts val="0"/>
                        </a:spcAft>
                        <a:buNone/>
                      </a:pPr>
                      <a:r>
                        <a:rPr b="1" i="0" lang="en-US" sz="1500" u="none" cap="none" strike="noStrike">
                          <a:solidFill>
                            <a:srgbClr val="EF4444"/>
                          </a:solidFill>
                          <a:latin typeface="Inter"/>
                          <a:ea typeface="Inter"/>
                          <a:cs typeface="Inter"/>
                          <a:sym typeface="Inter"/>
                        </a:rPr>
                        <a:t>400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Bad Request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Request sai format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8300">
                <a:tc>
                  <a:txBody>
                    <a:bodyPr/>
                    <a:lstStyle/>
                    <a:p>
                      <a:pPr indent="0" lvl="0" marL="0" marR="0" rtl="0" algn="l">
                        <a:spcBef>
                          <a:spcPts val="0"/>
                        </a:spcBef>
                        <a:spcAft>
                          <a:spcPts val="0"/>
                        </a:spcAft>
                        <a:buNone/>
                      </a:pPr>
                      <a:r>
                        <a:rPr b="1" i="0" lang="en-US" sz="1500" u="none" cap="none" strike="noStrike">
                          <a:solidFill>
                            <a:srgbClr val="EF4444"/>
                          </a:solidFill>
                          <a:latin typeface="Inter"/>
                          <a:ea typeface="Inter"/>
                          <a:cs typeface="Inter"/>
                          <a:sym typeface="Inter"/>
                        </a:rPr>
                        <a:t>404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Not Found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Không tìm thấy resource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08300">
                <a:tc>
                  <a:txBody>
                    <a:bodyPr/>
                    <a:lstStyle/>
                    <a:p>
                      <a:pPr indent="0" lvl="0" marL="0" marR="0" rtl="0" algn="l">
                        <a:spcBef>
                          <a:spcPts val="0"/>
                        </a:spcBef>
                        <a:spcAft>
                          <a:spcPts val="0"/>
                        </a:spcAft>
                        <a:buNone/>
                      </a:pPr>
                      <a:r>
                        <a:rPr b="1" i="0" lang="en-US" sz="1500" u="none" cap="none" strike="noStrike">
                          <a:solidFill>
                            <a:srgbClr val="EF4444"/>
                          </a:solidFill>
                          <a:latin typeface="Inter"/>
                          <a:ea typeface="Inter"/>
                          <a:cs typeface="Inter"/>
                          <a:sym typeface="Inter"/>
                        </a:rPr>
                        <a:t>422</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Unprocessable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Validation lỗi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291" name="Google Shape;291;p21"/>
          <p:cNvSpPr/>
          <p:nvPr/>
        </p:nvSpPr>
        <p:spPr>
          <a:xfrm>
            <a:off x="6324600" y="3214687"/>
            <a:ext cx="8667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2" name="Google Shape;292;p21"/>
          <p:cNvSpPr/>
          <p:nvPr/>
        </p:nvSpPr>
        <p:spPr>
          <a:xfrm>
            <a:off x="7191375" y="3214687"/>
            <a:ext cx="17526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3" name="Google Shape;293;p21"/>
          <p:cNvSpPr/>
          <p:nvPr/>
        </p:nvSpPr>
        <p:spPr>
          <a:xfrm>
            <a:off x="8943975" y="3214687"/>
            <a:ext cx="26384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4" name="Google Shape;294;p21"/>
          <p:cNvSpPr/>
          <p:nvPr/>
        </p:nvSpPr>
        <p:spPr>
          <a:xfrm>
            <a:off x="6324600" y="3833812"/>
            <a:ext cx="8667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5" name="Google Shape;295;p21"/>
          <p:cNvSpPr/>
          <p:nvPr/>
        </p:nvSpPr>
        <p:spPr>
          <a:xfrm>
            <a:off x="7191375" y="3833812"/>
            <a:ext cx="17526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6" name="Google Shape;296;p21"/>
          <p:cNvSpPr/>
          <p:nvPr/>
        </p:nvSpPr>
        <p:spPr>
          <a:xfrm>
            <a:off x="8943975" y="3833812"/>
            <a:ext cx="26384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21"/>
          <p:cNvSpPr/>
          <p:nvPr/>
        </p:nvSpPr>
        <p:spPr>
          <a:xfrm>
            <a:off x="6324600" y="4757737"/>
            <a:ext cx="8667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8" name="Google Shape;298;p21"/>
          <p:cNvSpPr/>
          <p:nvPr/>
        </p:nvSpPr>
        <p:spPr>
          <a:xfrm>
            <a:off x="7191375" y="4757737"/>
            <a:ext cx="17526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9" name="Google Shape;299;p21"/>
          <p:cNvSpPr/>
          <p:nvPr/>
        </p:nvSpPr>
        <p:spPr>
          <a:xfrm>
            <a:off x="8943975" y="4757737"/>
            <a:ext cx="26384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0" name="Google Shape;300;p21"/>
          <p:cNvSpPr/>
          <p:nvPr/>
        </p:nvSpPr>
        <p:spPr>
          <a:xfrm>
            <a:off x="6324600" y="5376862"/>
            <a:ext cx="8667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1" name="Google Shape;301;p21"/>
          <p:cNvSpPr/>
          <p:nvPr/>
        </p:nvSpPr>
        <p:spPr>
          <a:xfrm>
            <a:off x="7191375" y="5376862"/>
            <a:ext cx="17526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2" name="Google Shape;302;p21"/>
          <p:cNvSpPr/>
          <p:nvPr/>
        </p:nvSpPr>
        <p:spPr>
          <a:xfrm>
            <a:off x="8943975" y="5376862"/>
            <a:ext cx="26384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3" name="Google Shape;303;p21"/>
          <p:cNvSpPr/>
          <p:nvPr/>
        </p:nvSpPr>
        <p:spPr>
          <a:xfrm>
            <a:off x="6324600" y="5995987"/>
            <a:ext cx="8667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4" name="Google Shape;304;p21"/>
          <p:cNvSpPr/>
          <p:nvPr/>
        </p:nvSpPr>
        <p:spPr>
          <a:xfrm>
            <a:off x="7191375" y="5995987"/>
            <a:ext cx="17526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5" name="Google Shape;305;p21"/>
          <p:cNvSpPr/>
          <p:nvPr/>
        </p:nvSpPr>
        <p:spPr>
          <a:xfrm>
            <a:off x="8943975" y="5995987"/>
            <a:ext cx="26384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21"/>
          <p:cNvSpPr/>
          <p:nvPr/>
        </p:nvSpPr>
        <p:spPr>
          <a:xfrm>
            <a:off x="6324600" y="6615112"/>
            <a:ext cx="86677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7" name="Google Shape;307;p21"/>
          <p:cNvSpPr/>
          <p:nvPr/>
        </p:nvSpPr>
        <p:spPr>
          <a:xfrm>
            <a:off x="7191375" y="6615112"/>
            <a:ext cx="1752600"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8" name="Google Shape;308;p21"/>
          <p:cNvSpPr/>
          <p:nvPr/>
        </p:nvSpPr>
        <p:spPr>
          <a:xfrm>
            <a:off x="8943975" y="6615112"/>
            <a:ext cx="263842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9" name="Google Shape;309;p21"/>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`requestBody` &amp; `responses`</a:t>
            </a:r>
            <a:endParaRPr/>
          </a:p>
        </p:txBody>
      </p:sp>
      <p:sp>
        <p:nvSpPr>
          <p:cNvPr id="310" name="Google Shape;310;p21"/>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pic>
        <p:nvPicPr>
          <p:cNvPr descr="image.png" id="315" name="Google Shape;315;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descr="image.png" id="316" name="Google Shape;316;p22"/>
          <p:cNvPicPr preferRelativeResize="0"/>
          <p:nvPr/>
        </p:nvPicPr>
        <p:blipFill rotWithShape="1">
          <a:blip r:embed="rId4">
            <a:alphaModFix/>
          </a:blip>
          <a:srcRect b="0" l="0" r="0" t="0"/>
          <a:stretch/>
        </p:blipFill>
        <p:spPr>
          <a:xfrm>
            <a:off x="609600" y="1371600"/>
            <a:ext cx="5257800" cy="5088099"/>
          </a:xfrm>
          <a:prstGeom prst="rect">
            <a:avLst/>
          </a:prstGeom>
          <a:noFill/>
          <a:ln>
            <a:noFill/>
          </a:ln>
        </p:spPr>
      </p:pic>
      <p:pic>
        <p:nvPicPr>
          <p:cNvPr descr="image.png" id="317" name="Google Shape;317;p22"/>
          <p:cNvPicPr preferRelativeResize="0"/>
          <p:nvPr/>
        </p:nvPicPr>
        <p:blipFill rotWithShape="1">
          <a:blip r:embed="rId5">
            <a:alphaModFix/>
          </a:blip>
          <a:srcRect b="0" l="0" r="0" t="0"/>
          <a:stretch/>
        </p:blipFill>
        <p:spPr>
          <a:xfrm>
            <a:off x="6324600" y="1371600"/>
            <a:ext cx="5257800" cy="3900487"/>
          </a:xfrm>
          <a:prstGeom prst="rect">
            <a:avLst/>
          </a:prstGeom>
          <a:noFill/>
          <a:ln>
            <a:noFill/>
          </a:ln>
        </p:spPr>
      </p:pic>
      <p:sp>
        <p:nvSpPr>
          <p:cNvPr id="318" name="Google Shape;318;p22"/>
          <p:cNvSpPr txBox="1"/>
          <p:nvPr/>
        </p:nvSpPr>
        <p:spPr>
          <a:xfrm>
            <a:off x="609600" y="7253287"/>
            <a:ext cx="10972800" cy="0"/>
          </a:xfrm>
          <a:prstGeom prst="rect">
            <a:avLst/>
          </a:prstGeom>
          <a:noFill/>
          <a:ln>
            <a:noFill/>
          </a:ln>
        </p:spPr>
        <p:txBody>
          <a:bodyPr anchorCtr="0" anchor="t" bIns="0" lIns="142875" spcFirstLastPara="1" rIns="0" wrap="square" tIns="0">
            <a:spAutoFit/>
          </a:bodyPr>
          <a:lstStyle/>
          <a:p>
            <a:pPr indent="0" lvl="0" marL="0" marR="0" rtl="0" algn="ctr">
              <a:lnSpc>
                <a:spcPct val="160000"/>
              </a:lnSpc>
              <a:spcBef>
                <a:spcPts val="0"/>
              </a:spcBef>
              <a:spcAft>
                <a:spcPts val="0"/>
              </a:spcAft>
              <a:buNone/>
            </a:pPr>
            <a:r>
              <a:rPr b="0" i="0" lang="en-US" sz="1500" u="none" cap="none" strike="noStrike">
                <a:solidFill>
                  <a:srgbClr val="334155"/>
                </a:solidFill>
                <a:latin typeface="Inter Medium"/>
                <a:ea typeface="Inter Medium"/>
                <a:cs typeface="Inter Medium"/>
                <a:sym typeface="Inter Medium"/>
              </a:rPr>
              <a:t>Tip: Tách schema Book (có id) và BookCreate (không có id) — vì id do server tự sinh.</a:t>
            </a:r>
            <a:endParaRPr/>
          </a:p>
        </p:txBody>
      </p:sp>
      <p:pic>
        <p:nvPicPr>
          <p:cNvPr descr="image.png" id="319" name="Google Shape;319;p22"/>
          <p:cNvPicPr preferRelativeResize="0"/>
          <p:nvPr/>
        </p:nvPicPr>
        <p:blipFill rotWithShape="1">
          <a:blip r:embed="rId6">
            <a:alphaModFix/>
          </a:blip>
          <a:srcRect b="0" l="0" r="0" t="0"/>
          <a:stretch/>
        </p:blipFill>
        <p:spPr>
          <a:xfrm>
            <a:off x="2171700" y="7310437"/>
            <a:ext cx="142875" cy="190500"/>
          </a:xfrm>
          <a:prstGeom prst="rect">
            <a:avLst/>
          </a:prstGeom>
          <a:noFill/>
          <a:ln>
            <a:noFill/>
          </a:ln>
        </p:spPr>
      </p:pic>
      <p:sp>
        <p:nvSpPr>
          <p:cNvPr id="320" name="Google Shape;320;p22"/>
          <p:cNvSpPr txBox="1"/>
          <p:nvPr/>
        </p:nvSpPr>
        <p:spPr>
          <a:xfrm>
            <a:off x="847725" y="1609725"/>
            <a:ext cx="5020627" cy="228600"/>
          </a:xfrm>
          <a:prstGeom prst="rect">
            <a:avLst/>
          </a:prstGeom>
          <a:noFill/>
          <a:ln>
            <a:noFill/>
          </a:ln>
        </p:spPr>
        <p:txBody>
          <a:bodyPr anchorCtr="0" anchor="t" bIns="0" lIns="142875" spcFirstLastPara="1" rIns="0" wrap="square" tIns="0">
            <a:spAutoFit/>
          </a:bodyPr>
          <a:lstStyle/>
          <a:p>
            <a:pPr indent="0" lvl="0" marL="0" marR="0" rtl="0" algn="l">
              <a:spcBef>
                <a:spcPts val="0"/>
              </a:spcBef>
              <a:spcAft>
                <a:spcPts val="0"/>
              </a:spcAft>
              <a:buNone/>
            </a:pPr>
            <a:r>
              <a:rPr b="1" i="0" lang="en-US" sz="1500" u="none" cap="none" strike="noStrike">
                <a:solidFill>
                  <a:srgbClr val="EF4444"/>
                </a:solidFill>
                <a:latin typeface="Inter"/>
                <a:ea typeface="Inter"/>
                <a:cs typeface="Inter"/>
                <a:sym typeface="Inter"/>
              </a:rPr>
              <a:t>Vấn đề: Code lặp lại</a:t>
            </a:r>
            <a:endParaRPr/>
          </a:p>
        </p:txBody>
      </p:sp>
      <p:sp>
        <p:nvSpPr>
          <p:cNvPr id="321" name="Google Shape;321;p22"/>
          <p:cNvSpPr txBox="1"/>
          <p:nvPr/>
        </p:nvSpPr>
        <p:spPr>
          <a:xfrm>
            <a:off x="6562725" y="1609725"/>
            <a:ext cx="5020627" cy="257175"/>
          </a:xfrm>
          <a:prstGeom prst="rect">
            <a:avLst/>
          </a:prstGeom>
          <a:noFill/>
          <a:ln>
            <a:noFill/>
          </a:ln>
        </p:spPr>
        <p:txBody>
          <a:bodyPr anchorCtr="0" anchor="t" bIns="0" lIns="171450" spcFirstLastPara="1" rIns="0" wrap="square" tIns="0">
            <a:spAutoFit/>
          </a:bodyPr>
          <a:lstStyle/>
          <a:p>
            <a:pPr indent="0" lvl="0" marL="0" marR="0" rtl="0" algn="l">
              <a:spcBef>
                <a:spcPts val="0"/>
              </a:spcBef>
              <a:spcAft>
                <a:spcPts val="0"/>
              </a:spcAft>
              <a:buNone/>
            </a:pPr>
            <a:r>
              <a:rPr b="1" i="0" lang="en-US" sz="1500" u="none" cap="none" strike="noStrike">
                <a:solidFill>
                  <a:srgbClr val="10B981"/>
                </a:solidFill>
                <a:latin typeface="Inter"/>
                <a:ea typeface="Inter"/>
                <a:cs typeface="Inter"/>
                <a:sym typeface="Inter"/>
              </a:rPr>
              <a:t>Giải pháp: Dùng $ref</a:t>
            </a:r>
            <a:endParaRPr/>
          </a:p>
        </p:txBody>
      </p:sp>
      <p:pic>
        <p:nvPicPr>
          <p:cNvPr descr="image.png" id="322" name="Google Shape;322;p22"/>
          <p:cNvPicPr preferRelativeResize="0"/>
          <p:nvPr/>
        </p:nvPicPr>
        <p:blipFill rotWithShape="1">
          <a:blip r:embed="rId7">
            <a:alphaModFix/>
          </a:blip>
          <a:srcRect b="0" l="0" r="0" t="0"/>
          <a:stretch/>
        </p:blipFill>
        <p:spPr>
          <a:xfrm>
            <a:off x="847725" y="1628775"/>
            <a:ext cx="142875" cy="190500"/>
          </a:xfrm>
          <a:prstGeom prst="rect">
            <a:avLst/>
          </a:prstGeom>
          <a:noFill/>
          <a:ln>
            <a:noFill/>
          </a:ln>
        </p:spPr>
      </p:pic>
      <p:pic>
        <p:nvPicPr>
          <p:cNvPr descr="image.png" id="323" name="Google Shape;323;p22"/>
          <p:cNvPicPr preferRelativeResize="0"/>
          <p:nvPr/>
        </p:nvPicPr>
        <p:blipFill rotWithShape="1">
          <a:blip r:embed="rId8">
            <a:alphaModFix/>
          </a:blip>
          <a:srcRect b="0" l="0" r="0" t="0"/>
          <a:stretch/>
        </p:blipFill>
        <p:spPr>
          <a:xfrm>
            <a:off x="6562725" y="1638300"/>
            <a:ext cx="171450" cy="190500"/>
          </a:xfrm>
          <a:prstGeom prst="rect">
            <a:avLst/>
          </a:prstGeom>
          <a:noFill/>
          <a:ln>
            <a:noFill/>
          </a:ln>
        </p:spPr>
      </p:pic>
      <p:sp>
        <p:nvSpPr>
          <p:cNvPr id="324" name="Google Shape;324;p22"/>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`components/schemas` — Tái sử dụng Schema</a:t>
            </a:r>
            <a:endParaRPr/>
          </a:p>
        </p:txBody>
      </p:sp>
      <p:sp>
        <p:nvSpPr>
          <p:cNvPr id="325" name="Google Shape;325;p22"/>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326" name="Google Shape;326;p22"/>
          <p:cNvPicPr preferRelativeResize="0"/>
          <p:nvPr/>
        </p:nvPicPr>
        <p:blipFill rotWithShape="1">
          <a:blip r:embed="rId9">
            <a:alphaModFix/>
          </a:blip>
          <a:srcRect b="0" l="0" r="0" t="0"/>
          <a:stretch/>
        </p:blipFill>
        <p:spPr>
          <a:xfrm>
            <a:off x="6324600" y="5576875"/>
            <a:ext cx="5257800" cy="811410"/>
          </a:xfrm>
          <a:prstGeom prst="rect">
            <a:avLst/>
          </a:prstGeom>
          <a:noFill/>
          <a:ln>
            <a:noFill/>
          </a:ln>
        </p:spPr>
      </p:pic>
      <p:sp>
        <p:nvSpPr>
          <p:cNvPr id="327" name="Google Shape;327;p22"/>
          <p:cNvSpPr txBox="1"/>
          <p:nvPr/>
        </p:nvSpPr>
        <p:spPr>
          <a:xfrm>
            <a:off x="6486525" y="5738800"/>
            <a:ext cx="4934100" cy="480300"/>
          </a:xfrm>
          <a:prstGeom prst="rect">
            <a:avLst/>
          </a:prstGeom>
          <a:noFill/>
          <a:ln>
            <a:noFill/>
          </a:ln>
        </p:spPr>
        <p:txBody>
          <a:bodyPr anchorCtr="0" anchor="t" bIns="0" lIns="190500" spcFirstLastPara="1" rIns="0" wrap="square" tIns="0">
            <a:spAutoFit/>
          </a:bodyPr>
          <a:lstStyle/>
          <a:p>
            <a:pPr indent="0" lvl="0" marL="0" marR="0" rtl="0" algn="l">
              <a:lnSpc>
                <a:spcPct val="160000"/>
              </a:lnSpc>
              <a:spcBef>
                <a:spcPts val="0"/>
              </a:spcBef>
              <a:spcAft>
                <a:spcPts val="0"/>
              </a:spcAft>
              <a:buNone/>
            </a:pPr>
            <a:r>
              <a:rPr b="1" i="0" lang="en-US" sz="1200" u="none" cap="none" strike="noStrike">
                <a:solidFill>
                  <a:srgbClr val="334155"/>
                </a:solidFill>
                <a:latin typeface="Inter"/>
                <a:ea typeface="Inter"/>
                <a:cs typeface="Inter"/>
                <a:sym typeface="Inter"/>
              </a:rPr>
              <a:t>Tip:</a:t>
            </a:r>
            <a:r>
              <a:rPr b="0" i="0" lang="en-US" sz="1200" u="none" cap="none" strike="noStrike">
                <a:solidFill>
                  <a:srgbClr val="334155"/>
                </a:solidFill>
                <a:latin typeface="Inter"/>
                <a:ea typeface="Inter"/>
                <a:cs typeface="Inter"/>
                <a:sym typeface="Inter"/>
              </a:rPr>
              <a:t> </a:t>
            </a:r>
            <a:r>
              <a:rPr lang="en-US" sz="1200">
                <a:solidFill>
                  <a:srgbClr val="334155"/>
                </a:solidFill>
                <a:latin typeface="Inter"/>
                <a:ea typeface="Inter"/>
                <a:cs typeface="Inter"/>
                <a:sym typeface="Inter"/>
              </a:rPr>
              <a:t>Tách schema Book (có id) và BookCreate (không có id) — vì id do server tự sinh</a:t>
            </a:r>
            <a:endParaRPr/>
          </a:p>
        </p:txBody>
      </p:sp>
      <p:pic>
        <p:nvPicPr>
          <p:cNvPr descr="image.png" id="328" name="Google Shape;328;p22"/>
          <p:cNvPicPr preferRelativeResize="0"/>
          <p:nvPr/>
        </p:nvPicPr>
        <p:blipFill rotWithShape="1">
          <a:blip r:embed="rId10">
            <a:alphaModFix/>
          </a:blip>
          <a:srcRect b="0" l="0" r="0" t="0"/>
          <a:stretch/>
        </p:blipFill>
        <p:spPr>
          <a:xfrm>
            <a:off x="6486525" y="5776900"/>
            <a:ext cx="114300" cy="1524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2" name="Shape 332"/>
        <p:cNvGrpSpPr/>
        <p:nvPr/>
      </p:nvGrpSpPr>
      <p:grpSpPr>
        <a:xfrm>
          <a:off x="0" y="0"/>
          <a:ext cx="0" cy="0"/>
          <a:chOff x="0" y="0"/>
          <a:chExt cx="0" cy="0"/>
        </a:xfrm>
      </p:grpSpPr>
      <p:sp>
        <p:nvSpPr>
          <p:cNvPr id="333" name="Google Shape;333;p23"/>
          <p:cNvSpPr txBox="1"/>
          <p:nvPr/>
        </p:nvSpPr>
        <p:spPr>
          <a:xfrm>
            <a:off x="609575" y="1410063"/>
            <a:ext cx="115215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API Quản lý sách — 5 Endpoints cơ bản</a:t>
            </a:r>
            <a:endParaRPr/>
          </a:p>
        </p:txBody>
      </p:sp>
      <p:sp>
        <p:nvSpPr>
          <p:cNvPr id="334" name="Google Shape;334;p23"/>
          <p:cNvSpPr/>
          <p:nvPr/>
        </p:nvSpPr>
        <p:spPr>
          <a:xfrm>
            <a:off x="609600" y="2076438"/>
            <a:ext cx="10972800" cy="37530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335" name="Google Shape;335;p23"/>
          <p:cNvGraphicFramePr/>
          <p:nvPr/>
        </p:nvGraphicFramePr>
        <p:xfrm>
          <a:off x="609600" y="2076438"/>
          <a:ext cx="3000000" cy="3000000"/>
        </p:xfrm>
        <a:graphic>
          <a:graphicData uri="http://schemas.openxmlformats.org/drawingml/2006/table">
            <a:tbl>
              <a:tblPr bandRow="1" firstRow="1">
                <a:noFill/>
                <a:tableStyleId>{71C36EBE-E20A-4936-B9F0-920A7353A307}</a:tableStyleId>
              </a:tblPr>
              <a:tblGrid>
                <a:gridCol w="2351175"/>
                <a:gridCol w="3093700"/>
                <a:gridCol w="5527925"/>
              </a:tblGrid>
              <a:tr h="625475">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Method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Endpoint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Mô tả</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625475">
                <a:tc>
                  <a:txBody>
                    <a:bodyPr/>
                    <a:lstStyle/>
                    <a:p>
                      <a:pPr indent="0" lvl="0" marL="0" marR="0" rtl="0" algn="l">
                        <a:spcBef>
                          <a:spcPts val="0"/>
                        </a:spcBef>
                        <a:spcAft>
                          <a:spcPts val="0"/>
                        </a:spcAft>
                        <a:buNone/>
                      </a:pPr>
                      <a:r>
                        <a:rPr b="1" i="0" lang="en-US" sz="1500" u="none" cap="none" strike="noStrike">
                          <a:solidFill>
                            <a:srgbClr val="0284C7"/>
                          </a:solidFill>
                          <a:latin typeface="Inter"/>
                          <a:ea typeface="Inter"/>
                          <a:cs typeface="Inter"/>
                          <a:sym typeface="Inter"/>
                        </a:rPr>
                        <a:t>GET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/books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Lấy danh sách sách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25475">
                <a:tc>
                  <a:txBody>
                    <a:bodyPr/>
                    <a:lstStyle/>
                    <a:p>
                      <a:pPr indent="0" lvl="0" marL="0" marR="0" rtl="0" algn="l">
                        <a:spcBef>
                          <a:spcPts val="0"/>
                        </a:spcBef>
                        <a:spcAft>
                          <a:spcPts val="0"/>
                        </a:spcAft>
                        <a:buNone/>
                      </a:pPr>
                      <a:r>
                        <a:rPr b="1" i="0" lang="en-US" sz="1500" u="none" cap="none" strike="noStrike">
                          <a:solidFill>
                            <a:srgbClr val="0284C7"/>
                          </a:solidFill>
                          <a:latin typeface="Inter"/>
                          <a:ea typeface="Inter"/>
                          <a:cs typeface="Inter"/>
                          <a:sym typeface="Inter"/>
                        </a:rPr>
                        <a:t>GET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/books/{id}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Lấy chi tiết 1 cuốn sách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25475">
                <a:tc>
                  <a:txBody>
                    <a:bodyPr/>
                    <a:lstStyle/>
                    <a:p>
                      <a:pPr indent="0" lvl="0" marL="0" marR="0" rtl="0" algn="l">
                        <a:spcBef>
                          <a:spcPts val="0"/>
                        </a:spcBef>
                        <a:spcAft>
                          <a:spcPts val="0"/>
                        </a:spcAft>
                        <a:buNone/>
                      </a:pPr>
                      <a:r>
                        <a:rPr b="1" i="0" lang="en-US" sz="1500" u="none" cap="none" strike="noStrike">
                          <a:solidFill>
                            <a:srgbClr val="10B981"/>
                          </a:solidFill>
                          <a:latin typeface="Inter"/>
                          <a:ea typeface="Inter"/>
                          <a:cs typeface="Inter"/>
                          <a:sym typeface="Inter"/>
                        </a:rPr>
                        <a:t>POST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/books</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Thêm sách mới</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25475">
                <a:tc>
                  <a:txBody>
                    <a:bodyPr/>
                    <a:lstStyle/>
                    <a:p>
                      <a:pPr indent="0" lvl="0" marL="0" marR="0" rtl="0" algn="l">
                        <a:spcBef>
                          <a:spcPts val="0"/>
                        </a:spcBef>
                        <a:spcAft>
                          <a:spcPts val="0"/>
                        </a:spcAft>
                        <a:buNone/>
                      </a:pPr>
                      <a:r>
                        <a:rPr b="1" i="0" lang="en-US" sz="1500" u="none" cap="none" strike="noStrike">
                          <a:solidFill>
                            <a:srgbClr val="F59E0B"/>
                          </a:solidFill>
                          <a:latin typeface="Inter"/>
                          <a:ea typeface="Inter"/>
                          <a:cs typeface="Inter"/>
                          <a:sym typeface="Inter"/>
                        </a:rPr>
                        <a:t>PUT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/books/{id}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Cập nhật thông tin sách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25475">
                <a:tc>
                  <a:txBody>
                    <a:bodyPr/>
                    <a:lstStyle/>
                    <a:p>
                      <a:pPr indent="0" lvl="0" marL="0" marR="0" rtl="0" algn="l">
                        <a:spcBef>
                          <a:spcPts val="0"/>
                        </a:spcBef>
                        <a:spcAft>
                          <a:spcPts val="0"/>
                        </a:spcAft>
                        <a:buNone/>
                      </a:pPr>
                      <a:r>
                        <a:rPr b="1" i="0" lang="en-US" sz="1500" u="none" cap="none" strike="noStrike">
                          <a:solidFill>
                            <a:srgbClr val="EF4444"/>
                          </a:solidFill>
                          <a:latin typeface="Inter"/>
                          <a:ea typeface="Inter"/>
                          <a:cs typeface="Inter"/>
                          <a:sym typeface="Inter"/>
                        </a:rPr>
                        <a:t>DELETE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/books/{id}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Xóa sách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336" name="Google Shape;336;p23"/>
          <p:cNvSpPr/>
          <p:nvPr/>
        </p:nvSpPr>
        <p:spPr>
          <a:xfrm>
            <a:off x="609600" y="2681275"/>
            <a:ext cx="2351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7" name="Google Shape;337;p23"/>
          <p:cNvSpPr/>
          <p:nvPr/>
        </p:nvSpPr>
        <p:spPr>
          <a:xfrm>
            <a:off x="2960786" y="2681275"/>
            <a:ext cx="3093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8" name="Google Shape;338;p23"/>
          <p:cNvSpPr/>
          <p:nvPr/>
        </p:nvSpPr>
        <p:spPr>
          <a:xfrm>
            <a:off x="6054476" y="2452687"/>
            <a:ext cx="552792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39" name="Google Shape;339;p23"/>
          <p:cNvSpPr/>
          <p:nvPr/>
        </p:nvSpPr>
        <p:spPr>
          <a:xfrm>
            <a:off x="609600" y="3309925"/>
            <a:ext cx="2351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0" name="Google Shape;340;p23"/>
          <p:cNvSpPr/>
          <p:nvPr/>
        </p:nvSpPr>
        <p:spPr>
          <a:xfrm>
            <a:off x="2960786" y="3309925"/>
            <a:ext cx="3093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1" name="Google Shape;341;p23"/>
          <p:cNvSpPr/>
          <p:nvPr/>
        </p:nvSpPr>
        <p:spPr>
          <a:xfrm>
            <a:off x="6054476" y="3081337"/>
            <a:ext cx="552792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2" name="Google Shape;342;p23"/>
          <p:cNvSpPr/>
          <p:nvPr/>
        </p:nvSpPr>
        <p:spPr>
          <a:xfrm>
            <a:off x="609600" y="3938575"/>
            <a:ext cx="2351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3" name="Google Shape;343;p23"/>
          <p:cNvSpPr/>
          <p:nvPr/>
        </p:nvSpPr>
        <p:spPr>
          <a:xfrm>
            <a:off x="2960786" y="3938575"/>
            <a:ext cx="3093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4" name="Google Shape;344;p23"/>
          <p:cNvSpPr/>
          <p:nvPr/>
        </p:nvSpPr>
        <p:spPr>
          <a:xfrm>
            <a:off x="6054476" y="3709987"/>
            <a:ext cx="552792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5" name="Google Shape;345;p23"/>
          <p:cNvSpPr/>
          <p:nvPr/>
        </p:nvSpPr>
        <p:spPr>
          <a:xfrm>
            <a:off x="609600" y="4567225"/>
            <a:ext cx="2351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6" name="Google Shape;346;p23"/>
          <p:cNvSpPr/>
          <p:nvPr/>
        </p:nvSpPr>
        <p:spPr>
          <a:xfrm>
            <a:off x="2960786" y="4567225"/>
            <a:ext cx="3093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7" name="Google Shape;347;p23"/>
          <p:cNvSpPr/>
          <p:nvPr/>
        </p:nvSpPr>
        <p:spPr>
          <a:xfrm>
            <a:off x="6054476" y="4338637"/>
            <a:ext cx="552792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8" name="Google Shape;348;p23"/>
          <p:cNvSpPr/>
          <p:nvPr/>
        </p:nvSpPr>
        <p:spPr>
          <a:xfrm>
            <a:off x="609600" y="5195875"/>
            <a:ext cx="23511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49" name="Google Shape;349;p23"/>
          <p:cNvSpPr/>
          <p:nvPr/>
        </p:nvSpPr>
        <p:spPr>
          <a:xfrm>
            <a:off x="2960786" y="5195875"/>
            <a:ext cx="30936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0" name="Google Shape;350;p23"/>
          <p:cNvSpPr/>
          <p:nvPr/>
        </p:nvSpPr>
        <p:spPr>
          <a:xfrm>
            <a:off x="6054476" y="4967287"/>
            <a:ext cx="5527923"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51" name="Google Shape;351;p23"/>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Demo: File OpenAPI YAML hoàn chỉnh</a:t>
            </a:r>
            <a:endParaRPr/>
          </a:p>
        </p:txBody>
      </p:sp>
      <p:sp>
        <p:nvSpPr>
          <p:cNvPr id="352" name="Google Shape;352;p23"/>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6" name="Shape 356"/>
        <p:cNvGrpSpPr/>
        <p:nvPr/>
      </p:nvGrpSpPr>
      <p:grpSpPr>
        <a:xfrm>
          <a:off x="0" y="0"/>
          <a:ext cx="0" cy="0"/>
          <a:chOff x="0" y="0"/>
          <a:chExt cx="0" cy="0"/>
        </a:xfrm>
      </p:grpSpPr>
      <p:sp>
        <p:nvSpPr>
          <p:cNvPr id="357" name="Google Shape;357;p24"/>
          <p:cNvSpPr txBox="1"/>
          <p:nvPr/>
        </p:nvSpPr>
        <p:spPr>
          <a:xfrm>
            <a:off x="609600" y="1424650"/>
            <a:ext cx="64668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Cấu trúc tổng thể (Xem fi</a:t>
            </a:r>
            <a:r>
              <a:rPr b="1" i="0" lang="en-US" sz="2100" u="none" cap="none" strike="noStrike">
                <a:solidFill>
                  <a:srgbClr val="0369A1"/>
                </a:solidFill>
                <a:latin typeface="Inter"/>
                <a:ea typeface="Inter"/>
                <a:cs typeface="Inter"/>
                <a:sym typeface="Inter"/>
              </a:rPr>
              <a:t>l</a:t>
            </a:r>
            <a:r>
              <a:rPr b="1" i="0" lang="en-US" sz="2100" u="none" cap="none" strike="noStrike">
                <a:solidFill>
                  <a:srgbClr val="0369A1"/>
                </a:solidFill>
                <a:latin typeface="Inter"/>
                <a:ea typeface="Inter"/>
                <a:cs typeface="Inter"/>
                <a:sym typeface="Inter"/>
              </a:rPr>
              <a:t>e: demo/openapi.yaml)</a:t>
            </a:r>
            <a:endParaRPr/>
          </a:p>
        </p:txBody>
      </p:sp>
      <p:sp>
        <p:nvSpPr>
          <p:cNvPr id="358" name="Google Shape;358;p24"/>
          <p:cNvSpPr txBox="1"/>
          <p:nvPr/>
        </p:nvSpPr>
        <p:spPr>
          <a:xfrm>
            <a:off x="609600" y="457200"/>
            <a:ext cx="115215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Demo: File OpenAPI YAML hoàn chỉnh</a:t>
            </a:r>
            <a:endParaRPr/>
          </a:p>
        </p:txBody>
      </p:sp>
      <p:sp>
        <p:nvSpPr>
          <p:cNvPr id="359" name="Google Shape;359;p24"/>
          <p:cNvSpPr/>
          <p:nvPr/>
        </p:nvSpPr>
        <p:spPr>
          <a:xfrm>
            <a:off x="609600" y="1038225"/>
            <a:ext cx="10972800" cy="28500"/>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60" name="Google Shape;360;p24"/>
          <p:cNvPicPr preferRelativeResize="0"/>
          <p:nvPr/>
        </p:nvPicPr>
        <p:blipFill>
          <a:blip r:embed="rId3">
            <a:alphaModFix/>
          </a:blip>
          <a:stretch>
            <a:fillRect/>
          </a:stretch>
        </p:blipFill>
        <p:spPr>
          <a:xfrm>
            <a:off x="335250" y="1900150"/>
            <a:ext cx="5558261" cy="4805449"/>
          </a:xfrm>
          <a:prstGeom prst="rect">
            <a:avLst/>
          </a:prstGeom>
          <a:noFill/>
          <a:ln>
            <a:noFill/>
          </a:ln>
        </p:spPr>
      </p:pic>
      <p:pic>
        <p:nvPicPr>
          <p:cNvPr id="361" name="Google Shape;361;p24"/>
          <p:cNvPicPr preferRelativeResize="0"/>
          <p:nvPr/>
        </p:nvPicPr>
        <p:blipFill>
          <a:blip r:embed="rId4">
            <a:alphaModFix/>
          </a:blip>
          <a:stretch>
            <a:fillRect/>
          </a:stretch>
        </p:blipFill>
        <p:spPr>
          <a:xfrm>
            <a:off x="6101936" y="1900150"/>
            <a:ext cx="5779856" cy="48054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5" name="Shape 365"/>
        <p:cNvGrpSpPr/>
        <p:nvPr/>
      </p:nvGrpSpPr>
      <p:grpSpPr>
        <a:xfrm>
          <a:off x="0" y="0"/>
          <a:ext cx="0" cy="0"/>
          <a:chOff x="0" y="0"/>
          <a:chExt cx="0" cy="0"/>
        </a:xfrm>
      </p:grpSpPr>
      <p:sp>
        <p:nvSpPr>
          <p:cNvPr id="366" name="Google Shape;366;p25"/>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Demo: FastAPI + Swagger UI tự động</a:t>
            </a:r>
            <a:endParaRPr/>
          </a:p>
        </p:txBody>
      </p:sp>
      <p:sp>
        <p:nvSpPr>
          <p:cNvPr id="367" name="Google Shape;367;p25"/>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id="368" name="Google Shape;368;p25"/>
          <p:cNvPicPr preferRelativeResize="0"/>
          <p:nvPr/>
        </p:nvPicPr>
        <p:blipFill>
          <a:blip r:embed="rId3">
            <a:alphaModFix/>
          </a:blip>
          <a:stretch>
            <a:fillRect/>
          </a:stretch>
        </p:blipFill>
        <p:spPr>
          <a:xfrm>
            <a:off x="612900" y="1586375"/>
            <a:ext cx="10966189" cy="4857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2" name="Shape 372"/>
        <p:cNvGrpSpPr/>
        <p:nvPr/>
      </p:nvGrpSpPr>
      <p:grpSpPr>
        <a:xfrm>
          <a:off x="0" y="0"/>
          <a:ext cx="0" cy="0"/>
          <a:chOff x="0" y="0"/>
          <a:chExt cx="0" cy="0"/>
        </a:xfrm>
      </p:grpSpPr>
      <p:pic>
        <p:nvPicPr>
          <p:cNvPr descr="image.png" id="373" name="Google Shape;373;p26"/>
          <p:cNvPicPr preferRelativeResize="0"/>
          <p:nvPr/>
        </p:nvPicPr>
        <p:blipFill rotWithShape="1">
          <a:blip r:embed="rId3">
            <a:alphaModFix/>
          </a:blip>
          <a:srcRect b="0" l="0" r="0" t="0"/>
          <a:stretch/>
        </p:blipFill>
        <p:spPr>
          <a:xfrm>
            <a:off x="609600" y="2328863"/>
            <a:ext cx="5257800" cy="2676525"/>
          </a:xfrm>
          <a:prstGeom prst="rect">
            <a:avLst/>
          </a:prstGeom>
          <a:noFill/>
          <a:ln>
            <a:noFill/>
          </a:ln>
        </p:spPr>
      </p:pic>
      <p:sp>
        <p:nvSpPr>
          <p:cNvPr id="374" name="Google Shape;374;p26"/>
          <p:cNvSpPr txBox="1"/>
          <p:nvPr/>
        </p:nvSpPr>
        <p:spPr>
          <a:xfrm>
            <a:off x="609600" y="1852613"/>
            <a:ext cx="55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Các bước thực hiện</a:t>
            </a:r>
            <a:endParaRPr/>
          </a:p>
        </p:txBody>
      </p:sp>
      <p:sp>
        <p:nvSpPr>
          <p:cNvPr id="375" name="Google Shape;375;p26"/>
          <p:cNvSpPr txBox="1"/>
          <p:nvPr/>
        </p:nvSpPr>
        <p:spPr>
          <a:xfrm>
            <a:off x="6130300" y="2747963"/>
            <a:ext cx="5520600" cy="323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Kết quả sau khi Import</a:t>
            </a:r>
            <a:endParaRPr/>
          </a:p>
        </p:txBody>
      </p:sp>
      <p:sp>
        <p:nvSpPr>
          <p:cNvPr id="376" name="Google Shape;376;p26"/>
          <p:cNvSpPr txBox="1"/>
          <p:nvPr/>
        </p:nvSpPr>
        <p:spPr>
          <a:xfrm>
            <a:off x="6435100" y="3224213"/>
            <a:ext cx="4953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Tất cả 5 endpoints được tạo thành Collection tự động.</a:t>
            </a:r>
            <a:endParaRPr/>
          </a:p>
        </p:txBody>
      </p:sp>
      <p:sp>
        <p:nvSpPr>
          <p:cNvPr id="377" name="Google Shape;377;p26"/>
          <p:cNvSpPr txBox="1"/>
          <p:nvPr/>
        </p:nvSpPr>
        <p:spPr>
          <a:xfrm>
            <a:off x="6435100" y="3643313"/>
            <a:ext cx="4953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Request body có sẵn data mẫu (example).</a:t>
            </a:r>
            <a:endParaRPr/>
          </a:p>
        </p:txBody>
      </p:sp>
      <p:sp>
        <p:nvSpPr>
          <p:cNvPr id="378" name="Google Shape;378;p26"/>
          <p:cNvSpPr txBox="1"/>
          <p:nvPr/>
        </p:nvSpPr>
        <p:spPr>
          <a:xfrm>
            <a:off x="6435100" y="4062413"/>
            <a:ext cx="4953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Parameters được điền sẵn khung.</a:t>
            </a:r>
            <a:endParaRPr/>
          </a:p>
        </p:txBody>
      </p:sp>
      <p:sp>
        <p:nvSpPr>
          <p:cNvPr id="379" name="Google Shape;379;p26"/>
          <p:cNvSpPr txBox="1"/>
          <p:nvPr/>
        </p:nvSpPr>
        <p:spPr>
          <a:xfrm>
            <a:off x="6435100" y="4481513"/>
            <a:ext cx="49530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Có thể click Send để test ngay lập tức!</a:t>
            </a:r>
            <a:endParaRPr/>
          </a:p>
        </p:txBody>
      </p:sp>
      <p:sp>
        <p:nvSpPr>
          <p:cNvPr id="380" name="Google Shape;380;p26"/>
          <p:cNvSpPr txBox="1"/>
          <p:nvPr/>
        </p:nvSpPr>
        <p:spPr>
          <a:xfrm>
            <a:off x="904875" y="2566988"/>
            <a:ext cx="1335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1.</a:t>
            </a:r>
            <a:endParaRPr/>
          </a:p>
        </p:txBody>
      </p:sp>
      <p:sp>
        <p:nvSpPr>
          <p:cNvPr id="381" name="Google Shape;381;p26"/>
          <p:cNvSpPr txBox="1"/>
          <p:nvPr/>
        </p:nvSpPr>
        <p:spPr>
          <a:xfrm>
            <a:off x="1343025" y="2566988"/>
            <a:ext cx="4286400" cy="969600"/>
          </a:xfrm>
          <a:prstGeom prst="rect">
            <a:avLst/>
          </a:prstGeom>
          <a:noFill/>
          <a:ln>
            <a:noFill/>
          </a:ln>
        </p:spPr>
        <p:txBody>
          <a:bodyPr anchorCtr="0" anchor="t" bIns="0" lIns="13335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Lấy file spec:</a:t>
            </a:r>
            <a:r>
              <a:rPr b="0" i="0" lang="en-US" sz="1500" u="none" cap="none" strike="noStrike">
                <a:solidFill>
                  <a:srgbClr val="334155"/>
                </a:solidFill>
                <a:latin typeface="Inter"/>
                <a:ea typeface="Inter"/>
                <a:cs typeface="Inter"/>
                <a:sym typeface="Inter"/>
              </a:rPr>
              <a:t> Lấy link http://localhost:8000/openapi.json từ FastAPI hoặc file yaml.</a:t>
            </a:r>
            <a:endParaRPr/>
          </a:p>
        </p:txBody>
      </p:sp>
      <p:sp>
        <p:nvSpPr>
          <p:cNvPr id="382" name="Google Shape;382;p26"/>
          <p:cNvSpPr txBox="1"/>
          <p:nvPr/>
        </p:nvSpPr>
        <p:spPr>
          <a:xfrm>
            <a:off x="866775" y="3614738"/>
            <a:ext cx="171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2.</a:t>
            </a:r>
            <a:endParaRPr/>
          </a:p>
        </p:txBody>
      </p:sp>
      <p:sp>
        <p:nvSpPr>
          <p:cNvPr id="383" name="Google Shape;383;p26"/>
          <p:cNvSpPr txBox="1"/>
          <p:nvPr/>
        </p:nvSpPr>
        <p:spPr>
          <a:xfrm>
            <a:off x="1343025" y="3614738"/>
            <a:ext cx="4286400" cy="231000"/>
          </a:xfrm>
          <a:prstGeom prst="rect">
            <a:avLst/>
          </a:prstGeom>
          <a:noFill/>
          <a:ln>
            <a:noFill/>
          </a:ln>
        </p:spPr>
        <p:txBody>
          <a:bodyPr anchorCtr="0" anchor="t" bIns="0" lIns="17145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Mở Postman:</a:t>
            </a:r>
            <a:r>
              <a:rPr b="0" i="0" lang="en-US" sz="1500" u="none" cap="none" strike="noStrike">
                <a:solidFill>
                  <a:srgbClr val="334155"/>
                </a:solidFill>
                <a:latin typeface="Inter"/>
                <a:ea typeface="Inter"/>
                <a:cs typeface="Inter"/>
                <a:sym typeface="Inter"/>
              </a:rPr>
              <a:t> Chọn nút Import.</a:t>
            </a:r>
            <a:endParaRPr/>
          </a:p>
        </p:txBody>
      </p:sp>
      <p:sp>
        <p:nvSpPr>
          <p:cNvPr id="384" name="Google Shape;384;p26"/>
          <p:cNvSpPr txBox="1"/>
          <p:nvPr/>
        </p:nvSpPr>
        <p:spPr>
          <a:xfrm>
            <a:off x="866775" y="4043363"/>
            <a:ext cx="171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3.</a:t>
            </a:r>
            <a:endParaRPr/>
          </a:p>
        </p:txBody>
      </p:sp>
      <p:sp>
        <p:nvSpPr>
          <p:cNvPr id="385" name="Google Shape;385;p26"/>
          <p:cNvSpPr txBox="1"/>
          <p:nvPr/>
        </p:nvSpPr>
        <p:spPr>
          <a:xfrm>
            <a:off x="1343025" y="4043363"/>
            <a:ext cx="4286400" cy="600300"/>
          </a:xfrm>
          <a:prstGeom prst="rect">
            <a:avLst/>
          </a:prstGeom>
          <a:noFill/>
          <a:ln>
            <a:noFill/>
          </a:ln>
        </p:spPr>
        <p:txBody>
          <a:bodyPr anchorCtr="0" anchor="t" bIns="0" lIns="17145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Dán URL/File:</a:t>
            </a:r>
            <a:r>
              <a:rPr b="0" i="0" lang="en-US" sz="1500" u="none" cap="none" strike="noStrike">
                <a:solidFill>
                  <a:srgbClr val="334155"/>
                </a:solidFill>
                <a:latin typeface="Inter"/>
                <a:ea typeface="Inter"/>
                <a:cs typeface="Inter"/>
                <a:sym typeface="Inter"/>
              </a:rPr>
              <a:t> Postman sẽ tự động phân tích cấu trúc.</a:t>
            </a:r>
            <a:endParaRPr/>
          </a:p>
        </p:txBody>
      </p:sp>
      <p:pic>
        <p:nvPicPr>
          <p:cNvPr descr="image.png" id="386" name="Google Shape;386;p26"/>
          <p:cNvPicPr preferRelativeResize="0"/>
          <p:nvPr/>
        </p:nvPicPr>
        <p:blipFill rotWithShape="1">
          <a:blip r:embed="rId4">
            <a:alphaModFix/>
          </a:blip>
          <a:srcRect b="0" l="0" r="0" t="0"/>
          <a:stretch/>
        </p:blipFill>
        <p:spPr>
          <a:xfrm>
            <a:off x="6130300" y="3276599"/>
            <a:ext cx="190500" cy="200025"/>
          </a:xfrm>
          <a:prstGeom prst="rect">
            <a:avLst/>
          </a:prstGeom>
          <a:noFill/>
          <a:ln>
            <a:noFill/>
          </a:ln>
        </p:spPr>
      </p:pic>
      <p:pic>
        <p:nvPicPr>
          <p:cNvPr descr="image.png" id="387" name="Google Shape;387;p26"/>
          <p:cNvPicPr preferRelativeResize="0"/>
          <p:nvPr/>
        </p:nvPicPr>
        <p:blipFill rotWithShape="1">
          <a:blip r:embed="rId4">
            <a:alphaModFix/>
          </a:blip>
          <a:srcRect b="0" l="0" r="0" t="0"/>
          <a:stretch/>
        </p:blipFill>
        <p:spPr>
          <a:xfrm>
            <a:off x="6130300" y="3695700"/>
            <a:ext cx="190500" cy="200025"/>
          </a:xfrm>
          <a:prstGeom prst="rect">
            <a:avLst/>
          </a:prstGeom>
          <a:noFill/>
          <a:ln>
            <a:noFill/>
          </a:ln>
        </p:spPr>
      </p:pic>
      <p:pic>
        <p:nvPicPr>
          <p:cNvPr descr="image.png" id="388" name="Google Shape;388;p26"/>
          <p:cNvPicPr preferRelativeResize="0"/>
          <p:nvPr/>
        </p:nvPicPr>
        <p:blipFill rotWithShape="1">
          <a:blip r:embed="rId4">
            <a:alphaModFix/>
          </a:blip>
          <a:srcRect b="0" l="0" r="0" t="0"/>
          <a:stretch/>
        </p:blipFill>
        <p:spPr>
          <a:xfrm>
            <a:off x="6130300" y="4114800"/>
            <a:ext cx="190500" cy="200025"/>
          </a:xfrm>
          <a:prstGeom prst="rect">
            <a:avLst/>
          </a:prstGeom>
          <a:noFill/>
          <a:ln>
            <a:noFill/>
          </a:ln>
        </p:spPr>
      </p:pic>
      <p:pic>
        <p:nvPicPr>
          <p:cNvPr descr="image.png" id="389" name="Google Shape;389;p26"/>
          <p:cNvPicPr preferRelativeResize="0"/>
          <p:nvPr/>
        </p:nvPicPr>
        <p:blipFill rotWithShape="1">
          <a:blip r:embed="rId4">
            <a:alphaModFix/>
          </a:blip>
          <a:srcRect b="0" l="0" r="0" t="0"/>
          <a:stretch/>
        </p:blipFill>
        <p:spPr>
          <a:xfrm>
            <a:off x="6130300" y="4533900"/>
            <a:ext cx="190500" cy="200025"/>
          </a:xfrm>
          <a:prstGeom prst="rect">
            <a:avLst/>
          </a:prstGeom>
          <a:noFill/>
          <a:ln>
            <a:noFill/>
          </a:ln>
        </p:spPr>
      </p:pic>
      <p:sp>
        <p:nvSpPr>
          <p:cNvPr id="390" name="Google Shape;390;p26"/>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Demo: Import OpenAPI vào Postman</a:t>
            </a:r>
            <a:endParaRPr/>
          </a:p>
        </p:txBody>
      </p:sp>
      <p:sp>
        <p:nvSpPr>
          <p:cNvPr id="391" name="Google Shape;391;p26"/>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5" name="Shape 395"/>
        <p:cNvGrpSpPr/>
        <p:nvPr/>
      </p:nvGrpSpPr>
      <p:grpSpPr>
        <a:xfrm>
          <a:off x="0" y="0"/>
          <a:ext cx="0" cy="0"/>
          <a:chOff x="0" y="0"/>
          <a:chExt cx="0" cy="0"/>
        </a:xfrm>
      </p:grpSpPr>
      <p:pic>
        <p:nvPicPr>
          <p:cNvPr descr="image.png" id="396" name="Google Shape;396;p27"/>
          <p:cNvPicPr preferRelativeResize="0"/>
          <p:nvPr/>
        </p:nvPicPr>
        <p:blipFill rotWithShape="1">
          <a:blip r:embed="rId3">
            <a:alphaModFix/>
          </a:blip>
          <a:srcRect b="0" l="0" r="0" t="0"/>
          <a:stretch/>
        </p:blipFill>
        <p:spPr>
          <a:xfrm>
            <a:off x="609600" y="1335597"/>
            <a:ext cx="5257800" cy="3279250"/>
          </a:xfrm>
          <a:prstGeom prst="rect">
            <a:avLst/>
          </a:prstGeom>
          <a:noFill/>
          <a:ln>
            <a:noFill/>
          </a:ln>
        </p:spPr>
      </p:pic>
      <p:sp>
        <p:nvSpPr>
          <p:cNvPr id="397" name="Google Shape;397;p27"/>
          <p:cNvSpPr txBox="1"/>
          <p:nvPr/>
        </p:nvSpPr>
        <p:spPr>
          <a:xfrm>
            <a:off x="923925" y="1502639"/>
            <a:ext cx="4860600" cy="323100"/>
          </a:xfrm>
          <a:prstGeom prst="rect">
            <a:avLst/>
          </a:prstGeom>
          <a:noFill/>
          <a:ln>
            <a:noFill/>
          </a:ln>
        </p:spPr>
        <p:txBody>
          <a:bodyPr anchorCtr="0" anchor="t" bIns="0" lIns="447675"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Kiến thức chính</a:t>
            </a:r>
            <a:endParaRPr/>
          </a:p>
        </p:txBody>
      </p:sp>
      <p:sp>
        <p:nvSpPr>
          <p:cNvPr id="398" name="Google Shape;398;p27"/>
          <p:cNvSpPr txBox="1"/>
          <p:nvPr/>
        </p:nvSpPr>
        <p:spPr>
          <a:xfrm>
            <a:off x="6324600" y="1371600"/>
            <a:ext cx="5520690" cy="323850"/>
          </a:xfrm>
          <a:prstGeom prst="rect">
            <a:avLst/>
          </a:prstGeom>
          <a:noFill/>
          <a:ln>
            <a:noFill/>
          </a:ln>
        </p:spPr>
        <p:txBody>
          <a:bodyPr anchorCtr="0" anchor="t" bIns="0" lIns="314325" spcFirstLastPara="1" rIns="0" wrap="square" tIns="0">
            <a:spAutoFit/>
          </a:bodyPr>
          <a:lstStyle/>
          <a:p>
            <a:pPr indent="0" lvl="0" marL="0" marR="0" rtl="0" algn="l">
              <a:spcBef>
                <a:spcPts val="0"/>
              </a:spcBef>
              <a:spcAft>
                <a:spcPts val="0"/>
              </a:spcAft>
              <a:buNone/>
            </a:pPr>
            <a:r>
              <a:rPr b="1" i="0" lang="en-US" sz="2100" u="none" cap="none" strike="noStrike">
                <a:solidFill>
                  <a:srgbClr val="0369A1"/>
                </a:solidFill>
                <a:latin typeface="Inter"/>
                <a:ea typeface="Inter"/>
                <a:cs typeface="Inter"/>
                <a:sym typeface="Inter"/>
              </a:rPr>
              <a:t>Best Practices</a:t>
            </a:r>
            <a:endParaRPr/>
          </a:p>
        </p:txBody>
      </p:sp>
      <p:sp>
        <p:nvSpPr>
          <p:cNvPr id="399" name="Google Shape;399;p27"/>
          <p:cNvSpPr/>
          <p:nvPr/>
        </p:nvSpPr>
        <p:spPr>
          <a:xfrm>
            <a:off x="6212400" y="1923525"/>
            <a:ext cx="5481900" cy="4186800"/>
          </a:xfrm>
          <a:prstGeom prst="roundRect">
            <a:avLst>
              <a:gd fmla="val 0" name="adj"/>
            </a:avLst>
          </a:prstGeom>
          <a:solidFill>
            <a:srgbClr val="FFFFFF"/>
          </a:solidFill>
          <a:ln cap="flat" cmpd="sng" w="9525">
            <a:solidFill>
              <a:srgbClr val="4A7DBA"/>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aphicFrame>
        <p:nvGraphicFramePr>
          <p:cNvPr id="400" name="Google Shape;400;p27"/>
          <p:cNvGraphicFramePr/>
          <p:nvPr/>
        </p:nvGraphicFramePr>
        <p:xfrm>
          <a:off x="6212550" y="1903075"/>
          <a:ext cx="3000000" cy="3000000"/>
        </p:xfrm>
        <a:graphic>
          <a:graphicData uri="http://schemas.openxmlformats.org/drawingml/2006/table">
            <a:tbl>
              <a:tblPr bandRow="1" firstRow="1">
                <a:noFill/>
                <a:tableStyleId>{71C36EBE-E20A-4936-B9F0-920A7353A307}</a:tableStyleId>
              </a:tblPr>
              <a:tblGrid>
                <a:gridCol w="2850875"/>
                <a:gridCol w="2631025"/>
              </a:tblGrid>
              <a:tr h="697800">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Practice (Nên làm)</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i="0" lang="en-US" sz="1500" u="none" cap="none" strike="noStrike">
                          <a:solidFill>
                            <a:srgbClr val="0F172A"/>
                          </a:solidFill>
                          <a:latin typeface="Inter SemiBold"/>
                          <a:ea typeface="Inter SemiBold"/>
                          <a:cs typeface="Inter SemiBold"/>
                          <a:sym typeface="Inter SemiBold"/>
                        </a:rPr>
                        <a:t>Lý do</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69780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Luôn viết description rõ ràng</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Giúp người đọc hiểu nhanh mục đích</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780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Khai báo cả response lỗi (400, 404)</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Để tài liệu hoàn chỉnh, frontend biết đường xử lý</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780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Dùng example cho schema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Swagger UI hiển thị trực quan, dễ copy</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7800">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Tách schema Create/Update/Response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Linh hoạt, đúng với logic thực tế (ẩn/hiện ID)</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697825">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Đặt operationId có ý nghĩa</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en-US" sz="1500" u="none" cap="none" strike="noStrike">
                          <a:solidFill>
                            <a:srgbClr val="334155"/>
                          </a:solidFill>
                          <a:latin typeface="Inter"/>
                          <a:ea typeface="Inter"/>
                          <a:cs typeface="Inter"/>
                          <a:sym typeface="Inter"/>
                        </a:rPr>
                        <a:t>Hỗ trợ cực tốt khi dùng tools tự động sinh code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pic>
        <p:nvPicPr>
          <p:cNvPr descr="image.png" id="401" name="Google Shape;401;p27"/>
          <p:cNvPicPr preferRelativeResize="0"/>
          <p:nvPr/>
        </p:nvPicPr>
        <p:blipFill rotWithShape="1">
          <a:blip r:embed="rId4">
            <a:alphaModFix/>
          </a:blip>
          <a:srcRect b="0" l="0" r="0" t="0"/>
          <a:stretch/>
        </p:blipFill>
        <p:spPr>
          <a:xfrm>
            <a:off x="923925" y="1528405"/>
            <a:ext cx="333375" cy="240483"/>
          </a:xfrm>
          <a:prstGeom prst="rect">
            <a:avLst/>
          </a:prstGeom>
          <a:noFill/>
          <a:ln>
            <a:noFill/>
          </a:ln>
        </p:spPr>
      </p:pic>
      <p:sp>
        <p:nvSpPr>
          <p:cNvPr id="402" name="Google Shape;402;p27"/>
          <p:cNvSpPr txBox="1"/>
          <p:nvPr/>
        </p:nvSpPr>
        <p:spPr>
          <a:xfrm>
            <a:off x="1228725" y="1932073"/>
            <a:ext cx="43242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API Specification</a:t>
            </a:r>
            <a:r>
              <a:rPr b="0" i="0" lang="en-US" sz="1500" u="none" cap="none" strike="noStrike">
                <a:solidFill>
                  <a:srgbClr val="334155"/>
                </a:solidFill>
                <a:latin typeface="Inter"/>
                <a:ea typeface="Inter"/>
                <a:cs typeface="Inter"/>
                <a:sym typeface="Inter"/>
              </a:rPr>
              <a:t> = bản mô tả chuẩn hóa cho API.</a:t>
            </a:r>
            <a:endParaRPr/>
          </a:p>
        </p:txBody>
      </p:sp>
      <p:sp>
        <p:nvSpPr>
          <p:cNvPr id="403" name="Google Shape;403;p27"/>
          <p:cNvSpPr txBox="1"/>
          <p:nvPr/>
        </p:nvSpPr>
        <p:spPr>
          <a:xfrm>
            <a:off x="1228725" y="2584813"/>
            <a:ext cx="4324200" cy="6003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i="0" lang="en-US" sz="1500" u="none" cap="none" strike="noStrike">
                <a:solidFill>
                  <a:srgbClr val="334155"/>
                </a:solidFill>
                <a:latin typeface="Inter"/>
                <a:ea typeface="Inter"/>
                <a:cs typeface="Inter"/>
                <a:sym typeface="Inter"/>
              </a:rPr>
              <a:t>OpenAPI</a:t>
            </a:r>
            <a:r>
              <a:rPr b="0" i="0" lang="en-US" sz="1500" u="none" cap="none" strike="noStrike">
                <a:solidFill>
                  <a:srgbClr val="334155"/>
                </a:solidFill>
                <a:latin typeface="Inter"/>
                <a:ea typeface="Inter"/>
                <a:cs typeface="Inter"/>
                <a:sym typeface="Inter"/>
              </a:rPr>
              <a:t> = chuẩn spec, </a:t>
            </a:r>
            <a:r>
              <a:rPr b="1" i="0" lang="en-US" sz="1500" u="none" cap="none" strike="noStrike">
                <a:solidFill>
                  <a:srgbClr val="334155"/>
                </a:solidFill>
                <a:latin typeface="Inter"/>
                <a:ea typeface="Inter"/>
                <a:cs typeface="Inter"/>
                <a:sym typeface="Inter"/>
              </a:rPr>
              <a:t>Swagger</a:t>
            </a:r>
            <a:r>
              <a:rPr b="0" i="0" lang="en-US" sz="1500" u="none" cap="none" strike="noStrike">
                <a:solidFill>
                  <a:srgbClr val="334155"/>
                </a:solidFill>
                <a:latin typeface="Inter"/>
                <a:ea typeface="Inter"/>
                <a:cs typeface="Inter"/>
                <a:sym typeface="Inter"/>
              </a:rPr>
              <a:t> = bộ công cụ.</a:t>
            </a:r>
            <a:endParaRPr/>
          </a:p>
        </p:txBody>
      </p:sp>
      <p:sp>
        <p:nvSpPr>
          <p:cNvPr id="404" name="Google Shape;404;p27"/>
          <p:cNvSpPr txBox="1"/>
          <p:nvPr/>
        </p:nvSpPr>
        <p:spPr>
          <a:xfrm>
            <a:off x="1228725" y="3237553"/>
            <a:ext cx="4324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4 phần chính: info, servers, paths, components.</a:t>
            </a:r>
            <a:endParaRPr/>
          </a:p>
        </p:txBody>
      </p:sp>
      <p:sp>
        <p:nvSpPr>
          <p:cNvPr id="405" name="Google Shape;405;p27"/>
          <p:cNvSpPr txBox="1"/>
          <p:nvPr/>
        </p:nvSpPr>
        <p:spPr>
          <a:xfrm>
            <a:off x="1228725" y="3624043"/>
            <a:ext cx="4324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Dùng $ref để tái sử dụng schema hiệu quả.</a:t>
            </a:r>
            <a:endParaRPr/>
          </a:p>
        </p:txBody>
      </p:sp>
      <p:sp>
        <p:nvSpPr>
          <p:cNvPr id="406" name="Google Shape;406;p27"/>
          <p:cNvSpPr txBox="1"/>
          <p:nvPr/>
        </p:nvSpPr>
        <p:spPr>
          <a:xfrm>
            <a:off x="1228725" y="4010534"/>
            <a:ext cx="4324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0" i="0" lang="en-US" sz="1500" u="none" cap="none" strike="noStrike">
                <a:solidFill>
                  <a:srgbClr val="334155"/>
                </a:solidFill>
                <a:latin typeface="Inter"/>
                <a:ea typeface="Inter"/>
                <a:cs typeface="Inter"/>
                <a:sym typeface="Inter"/>
              </a:rPr>
              <a:t>FastAPI có khả năng tự sinh Swagger UI.</a:t>
            </a:r>
            <a:endParaRPr/>
          </a:p>
        </p:txBody>
      </p:sp>
      <p:pic>
        <p:nvPicPr>
          <p:cNvPr descr="image.png" id="407" name="Google Shape;407;p27"/>
          <p:cNvPicPr preferRelativeResize="0"/>
          <p:nvPr/>
        </p:nvPicPr>
        <p:blipFill rotWithShape="1">
          <a:blip r:embed="rId5">
            <a:alphaModFix/>
          </a:blip>
          <a:srcRect b="0" l="0" r="0" t="0"/>
          <a:stretch/>
        </p:blipFill>
        <p:spPr>
          <a:xfrm>
            <a:off x="6324600" y="1400175"/>
            <a:ext cx="200025" cy="266700"/>
          </a:xfrm>
          <a:prstGeom prst="rect">
            <a:avLst/>
          </a:prstGeom>
          <a:noFill/>
          <a:ln>
            <a:noFill/>
          </a:ln>
        </p:spPr>
      </p:pic>
      <p:sp>
        <p:nvSpPr>
          <p:cNvPr id="408" name="Google Shape;408;p27"/>
          <p:cNvSpPr/>
          <p:nvPr/>
        </p:nvSpPr>
        <p:spPr>
          <a:xfrm>
            <a:off x="6324600" y="2452687"/>
            <a:ext cx="30563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09" name="Google Shape;409;p27"/>
          <p:cNvSpPr/>
          <p:nvPr/>
        </p:nvSpPr>
        <p:spPr>
          <a:xfrm>
            <a:off x="9380934" y="2452687"/>
            <a:ext cx="220146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0" name="Google Shape;410;p27"/>
          <p:cNvSpPr/>
          <p:nvPr/>
        </p:nvSpPr>
        <p:spPr>
          <a:xfrm>
            <a:off x="6324600" y="3376612"/>
            <a:ext cx="30563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1" name="Google Shape;411;p27"/>
          <p:cNvSpPr/>
          <p:nvPr/>
        </p:nvSpPr>
        <p:spPr>
          <a:xfrm>
            <a:off x="9380934" y="3376612"/>
            <a:ext cx="220146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2" name="Google Shape;412;p27"/>
          <p:cNvSpPr/>
          <p:nvPr/>
        </p:nvSpPr>
        <p:spPr>
          <a:xfrm>
            <a:off x="6324600" y="4605337"/>
            <a:ext cx="30563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3" name="Google Shape;413;p27"/>
          <p:cNvSpPr/>
          <p:nvPr/>
        </p:nvSpPr>
        <p:spPr>
          <a:xfrm>
            <a:off x="9380934" y="4605337"/>
            <a:ext cx="220146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4" name="Google Shape;414;p27"/>
          <p:cNvSpPr/>
          <p:nvPr/>
        </p:nvSpPr>
        <p:spPr>
          <a:xfrm>
            <a:off x="6324600" y="5529262"/>
            <a:ext cx="30563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5" name="Google Shape;415;p27"/>
          <p:cNvSpPr/>
          <p:nvPr/>
        </p:nvSpPr>
        <p:spPr>
          <a:xfrm>
            <a:off x="9380934" y="5529262"/>
            <a:ext cx="220146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6" name="Google Shape;416;p27"/>
          <p:cNvSpPr/>
          <p:nvPr/>
        </p:nvSpPr>
        <p:spPr>
          <a:xfrm>
            <a:off x="6324600" y="6757987"/>
            <a:ext cx="3056334"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7" name="Google Shape;417;p27"/>
          <p:cNvSpPr/>
          <p:nvPr/>
        </p:nvSpPr>
        <p:spPr>
          <a:xfrm>
            <a:off x="9380934" y="6757987"/>
            <a:ext cx="2201465" cy="9525"/>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18" name="Google Shape;418;p27"/>
          <p:cNvPicPr preferRelativeResize="0"/>
          <p:nvPr/>
        </p:nvPicPr>
        <p:blipFill rotWithShape="1">
          <a:blip r:embed="rId6">
            <a:alphaModFix/>
          </a:blip>
          <a:srcRect b="0" l="0" r="0" t="0"/>
          <a:stretch/>
        </p:blipFill>
        <p:spPr>
          <a:xfrm>
            <a:off x="923925" y="1979310"/>
            <a:ext cx="190500" cy="180362"/>
          </a:xfrm>
          <a:prstGeom prst="rect">
            <a:avLst/>
          </a:prstGeom>
          <a:noFill/>
          <a:ln>
            <a:noFill/>
          </a:ln>
        </p:spPr>
      </p:pic>
      <p:pic>
        <p:nvPicPr>
          <p:cNvPr descr="image.png" id="419" name="Google Shape;419;p27"/>
          <p:cNvPicPr preferRelativeResize="0"/>
          <p:nvPr/>
        </p:nvPicPr>
        <p:blipFill rotWithShape="1">
          <a:blip r:embed="rId6">
            <a:alphaModFix/>
          </a:blip>
          <a:srcRect b="0" l="0" r="0" t="0"/>
          <a:stretch/>
        </p:blipFill>
        <p:spPr>
          <a:xfrm>
            <a:off x="923925" y="2632050"/>
            <a:ext cx="190500" cy="180362"/>
          </a:xfrm>
          <a:prstGeom prst="rect">
            <a:avLst/>
          </a:prstGeom>
          <a:noFill/>
          <a:ln>
            <a:noFill/>
          </a:ln>
        </p:spPr>
      </p:pic>
      <p:pic>
        <p:nvPicPr>
          <p:cNvPr descr="image.png" id="420" name="Google Shape;420;p27"/>
          <p:cNvPicPr preferRelativeResize="0"/>
          <p:nvPr/>
        </p:nvPicPr>
        <p:blipFill rotWithShape="1">
          <a:blip r:embed="rId6">
            <a:alphaModFix/>
          </a:blip>
          <a:srcRect b="0" l="0" r="0" t="0"/>
          <a:stretch/>
        </p:blipFill>
        <p:spPr>
          <a:xfrm>
            <a:off x="923925" y="3284790"/>
            <a:ext cx="190500" cy="180362"/>
          </a:xfrm>
          <a:prstGeom prst="rect">
            <a:avLst/>
          </a:prstGeom>
          <a:noFill/>
          <a:ln>
            <a:noFill/>
          </a:ln>
        </p:spPr>
      </p:pic>
      <p:pic>
        <p:nvPicPr>
          <p:cNvPr descr="image.png" id="421" name="Google Shape;421;p27"/>
          <p:cNvPicPr preferRelativeResize="0"/>
          <p:nvPr/>
        </p:nvPicPr>
        <p:blipFill rotWithShape="1">
          <a:blip r:embed="rId6">
            <a:alphaModFix/>
          </a:blip>
          <a:srcRect b="0" l="0" r="0" t="0"/>
          <a:stretch/>
        </p:blipFill>
        <p:spPr>
          <a:xfrm>
            <a:off x="923925" y="3671281"/>
            <a:ext cx="190500" cy="180362"/>
          </a:xfrm>
          <a:prstGeom prst="rect">
            <a:avLst/>
          </a:prstGeom>
          <a:noFill/>
          <a:ln>
            <a:noFill/>
          </a:ln>
        </p:spPr>
      </p:pic>
      <p:pic>
        <p:nvPicPr>
          <p:cNvPr descr="image.png" id="422" name="Google Shape;422;p27"/>
          <p:cNvPicPr preferRelativeResize="0"/>
          <p:nvPr/>
        </p:nvPicPr>
        <p:blipFill rotWithShape="1">
          <a:blip r:embed="rId6">
            <a:alphaModFix/>
          </a:blip>
          <a:srcRect b="0" l="0" r="0" t="0"/>
          <a:stretch/>
        </p:blipFill>
        <p:spPr>
          <a:xfrm>
            <a:off x="923925" y="4057771"/>
            <a:ext cx="190500" cy="180362"/>
          </a:xfrm>
          <a:prstGeom prst="rect">
            <a:avLst/>
          </a:prstGeom>
          <a:noFill/>
          <a:ln>
            <a:noFill/>
          </a:ln>
        </p:spPr>
      </p:pic>
      <p:sp>
        <p:nvSpPr>
          <p:cNvPr id="423" name="Google Shape;423;p27"/>
          <p:cNvSpPr txBox="1"/>
          <p:nvPr/>
        </p:nvSpPr>
        <p:spPr>
          <a:xfrm>
            <a:off x="609600" y="457200"/>
            <a:ext cx="11521440" cy="49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3000" u="none" cap="none" strike="noStrike">
                <a:solidFill>
                  <a:srgbClr val="0284C7"/>
                </a:solidFill>
                <a:latin typeface="Inter"/>
                <a:ea typeface="Inter"/>
                <a:cs typeface="Inter"/>
                <a:sym typeface="Inter"/>
              </a:rPr>
              <a:t>Tổng kết &amp; Best Practices</a:t>
            </a:r>
            <a:endParaRPr/>
          </a:p>
        </p:txBody>
      </p:sp>
      <p:sp>
        <p:nvSpPr>
          <p:cNvPr id="424" name="Google Shape;424;p27"/>
          <p:cNvSpPr/>
          <p:nvPr/>
        </p:nvSpPr>
        <p:spPr>
          <a:xfrm>
            <a:off x="609600" y="1038225"/>
            <a:ext cx="10972800" cy="28575"/>
          </a:xfrm>
          <a:prstGeom prst="rect">
            <a:avLst/>
          </a:prstGeom>
          <a:solidFill>
            <a:srgbClr val="BAE6FD"/>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pic>
        <p:nvPicPr>
          <p:cNvPr descr="image.png" id="425" name="Google Shape;425;p27"/>
          <p:cNvPicPr preferRelativeResize="0"/>
          <p:nvPr/>
        </p:nvPicPr>
        <p:blipFill rotWithShape="1">
          <a:blip r:embed="rId3">
            <a:alphaModFix/>
          </a:blip>
          <a:srcRect b="0" l="0" r="0" t="0"/>
          <a:stretch/>
        </p:blipFill>
        <p:spPr>
          <a:xfrm>
            <a:off x="609600" y="4783500"/>
            <a:ext cx="5257800" cy="1798100"/>
          </a:xfrm>
          <a:prstGeom prst="rect">
            <a:avLst/>
          </a:prstGeom>
          <a:noFill/>
          <a:ln>
            <a:noFill/>
          </a:ln>
        </p:spPr>
      </p:pic>
      <p:sp>
        <p:nvSpPr>
          <p:cNvPr id="426" name="Google Shape;426;p27"/>
          <p:cNvSpPr txBox="1"/>
          <p:nvPr/>
        </p:nvSpPr>
        <p:spPr>
          <a:xfrm>
            <a:off x="923925" y="4950539"/>
            <a:ext cx="4860600" cy="323100"/>
          </a:xfrm>
          <a:prstGeom prst="rect">
            <a:avLst/>
          </a:prstGeom>
          <a:noFill/>
          <a:ln>
            <a:noFill/>
          </a:ln>
        </p:spPr>
        <p:txBody>
          <a:bodyPr anchorCtr="0" anchor="t" bIns="0" lIns="447675" spcFirstLastPara="1" rIns="0" wrap="square" tIns="0">
            <a:spAutoFit/>
          </a:bodyPr>
          <a:lstStyle/>
          <a:p>
            <a:pPr indent="0" lvl="0" marL="0" marR="0" rtl="0" algn="l">
              <a:spcBef>
                <a:spcPts val="0"/>
              </a:spcBef>
              <a:spcAft>
                <a:spcPts val="0"/>
              </a:spcAft>
              <a:buNone/>
            </a:pPr>
            <a:r>
              <a:rPr b="1" lang="en-US" sz="2100">
                <a:solidFill>
                  <a:srgbClr val="0369A1"/>
                </a:solidFill>
                <a:latin typeface="Inter"/>
                <a:ea typeface="Inter"/>
                <a:cs typeface="Inter"/>
                <a:sym typeface="Inter"/>
              </a:rPr>
              <a:t>Tài liệu tham khảo</a:t>
            </a:r>
            <a:endParaRPr/>
          </a:p>
        </p:txBody>
      </p:sp>
      <p:pic>
        <p:nvPicPr>
          <p:cNvPr descr="image.png" id="427" name="Google Shape;427;p27"/>
          <p:cNvPicPr preferRelativeResize="0"/>
          <p:nvPr/>
        </p:nvPicPr>
        <p:blipFill rotWithShape="1">
          <a:blip r:embed="rId4">
            <a:alphaModFix/>
          </a:blip>
          <a:srcRect b="0" l="0" r="0" t="0"/>
          <a:stretch/>
        </p:blipFill>
        <p:spPr>
          <a:xfrm>
            <a:off x="923925" y="4976305"/>
            <a:ext cx="333375" cy="240483"/>
          </a:xfrm>
          <a:prstGeom prst="rect">
            <a:avLst/>
          </a:prstGeom>
          <a:noFill/>
          <a:ln>
            <a:noFill/>
          </a:ln>
        </p:spPr>
      </p:pic>
      <p:sp>
        <p:nvSpPr>
          <p:cNvPr id="428" name="Google Shape;428;p27"/>
          <p:cNvSpPr txBox="1"/>
          <p:nvPr/>
        </p:nvSpPr>
        <p:spPr>
          <a:xfrm>
            <a:off x="1228725" y="5379973"/>
            <a:ext cx="4324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500">
                <a:solidFill>
                  <a:srgbClr val="334155"/>
                </a:solidFill>
                <a:latin typeface="Inter"/>
                <a:ea typeface="Inter"/>
                <a:cs typeface="Inter"/>
                <a:sym typeface="Inter"/>
              </a:rPr>
              <a:t>📘 OpenAPI Specification</a:t>
            </a:r>
            <a:endParaRPr/>
          </a:p>
        </p:txBody>
      </p:sp>
      <p:sp>
        <p:nvSpPr>
          <p:cNvPr id="429" name="Google Shape;429;p27"/>
          <p:cNvSpPr txBox="1"/>
          <p:nvPr/>
        </p:nvSpPr>
        <p:spPr>
          <a:xfrm>
            <a:off x="1228800" y="5717288"/>
            <a:ext cx="4324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500">
                <a:solidFill>
                  <a:srgbClr val="334155"/>
                </a:solidFill>
                <a:latin typeface="Inter"/>
                <a:ea typeface="Inter"/>
                <a:cs typeface="Inter"/>
                <a:sym typeface="Inter"/>
              </a:rPr>
              <a:t>🛠️ Swagger Editor Online</a:t>
            </a:r>
            <a:endParaRPr/>
          </a:p>
        </p:txBody>
      </p:sp>
      <p:sp>
        <p:nvSpPr>
          <p:cNvPr id="430" name="Google Shape;430;p27"/>
          <p:cNvSpPr txBox="1"/>
          <p:nvPr/>
        </p:nvSpPr>
        <p:spPr>
          <a:xfrm>
            <a:off x="1228800" y="6101853"/>
            <a:ext cx="4324200" cy="2310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None/>
            </a:pPr>
            <a:r>
              <a:rPr b="1" lang="en-US" sz="1500">
                <a:solidFill>
                  <a:srgbClr val="334155"/>
                </a:solidFill>
                <a:latin typeface="Inter"/>
                <a:ea typeface="Inter"/>
                <a:cs typeface="Inter"/>
                <a:sym typeface="Inter"/>
              </a:rPr>
              <a:t>🐍 FastAPI Docs</a:t>
            </a:r>
            <a:endParaRPr b="1"/>
          </a:p>
        </p:txBody>
      </p:sp>
      <p:pic>
        <p:nvPicPr>
          <p:cNvPr descr="image.png" id="431" name="Google Shape;431;p27"/>
          <p:cNvPicPr preferRelativeResize="0"/>
          <p:nvPr/>
        </p:nvPicPr>
        <p:blipFill rotWithShape="1">
          <a:blip r:embed="rId6">
            <a:alphaModFix/>
          </a:blip>
          <a:srcRect b="0" l="0" r="0" t="0"/>
          <a:stretch/>
        </p:blipFill>
        <p:spPr>
          <a:xfrm>
            <a:off x="923925" y="5427210"/>
            <a:ext cx="190500" cy="180362"/>
          </a:xfrm>
          <a:prstGeom prst="rect">
            <a:avLst/>
          </a:prstGeom>
          <a:noFill/>
          <a:ln>
            <a:noFill/>
          </a:ln>
        </p:spPr>
      </p:pic>
      <p:pic>
        <p:nvPicPr>
          <p:cNvPr descr="image.png" id="432" name="Google Shape;432;p27"/>
          <p:cNvPicPr preferRelativeResize="0"/>
          <p:nvPr/>
        </p:nvPicPr>
        <p:blipFill rotWithShape="1">
          <a:blip r:embed="rId6">
            <a:alphaModFix/>
          </a:blip>
          <a:srcRect b="0" l="0" r="0" t="0"/>
          <a:stretch/>
        </p:blipFill>
        <p:spPr>
          <a:xfrm>
            <a:off x="924000" y="5764525"/>
            <a:ext cx="190500" cy="180362"/>
          </a:xfrm>
          <a:prstGeom prst="rect">
            <a:avLst/>
          </a:prstGeom>
          <a:noFill/>
          <a:ln>
            <a:noFill/>
          </a:ln>
        </p:spPr>
      </p:pic>
      <p:pic>
        <p:nvPicPr>
          <p:cNvPr descr="image.png" id="433" name="Google Shape;433;p27"/>
          <p:cNvPicPr preferRelativeResize="0"/>
          <p:nvPr/>
        </p:nvPicPr>
        <p:blipFill rotWithShape="1">
          <a:blip r:embed="rId6">
            <a:alphaModFix/>
          </a:blip>
          <a:srcRect b="0" l="0" r="0" t="0"/>
          <a:stretch/>
        </p:blipFill>
        <p:spPr>
          <a:xfrm>
            <a:off x="924000" y="6149090"/>
            <a:ext cx="190500" cy="18036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