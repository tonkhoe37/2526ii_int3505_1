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Unbounded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Unbounded-regular.fntdata"/><Relationship Id="rId14" Type="http://schemas.openxmlformats.org/officeDocument/2006/relationships/slide" Target="slides/slide10.xml"/><Relationship Id="rId17" Type="http://schemas.openxmlformats.org/officeDocument/2006/relationships/font" Target="fonts/OpenSans-regular.fntdata"/><Relationship Id="rId16" Type="http://schemas.openxmlformats.org/officeDocument/2006/relationships/font" Target="fonts/Unbounded-bold.fntdata"/><Relationship Id="rId5" Type="http://schemas.openxmlformats.org/officeDocument/2006/relationships/slide" Target="slides/slide1.xml"/><Relationship Id="rId19" Type="http://schemas.openxmlformats.org/officeDocument/2006/relationships/font" Target="fonts/OpenSans-italic.fntdata"/><Relationship Id="rId6" Type="http://schemas.openxmlformats.org/officeDocument/2006/relationships/slide" Target="slides/slide2.xml"/><Relationship Id="rId18" Type="http://schemas.openxmlformats.org/officeDocument/2006/relationships/font" Target="fonts/Open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cf0dfe3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ecf0dfe3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ecf0dfe3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170021"/>
            <a:ext cx="5259705" cy="78895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280190" y="1988820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Nguyên lý Triển khai Backend Service </a:t>
            </a:r>
            <a:endParaRPr b="0" i="0" sz="4450" u="none" cap="none" strike="noStrike"/>
          </a:p>
        </p:txBody>
      </p:sp>
      <p:sp>
        <p:nvSpPr>
          <p:cNvPr id="55" name="Google Shape;55;p12"/>
          <p:cNvSpPr/>
          <p:nvPr/>
        </p:nvSpPr>
        <p:spPr>
          <a:xfrm>
            <a:off x="6280190" y="4455319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Nhóm 1</a:t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23020094 Tôn THiện Khỏe</a:t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21020123 Nguyễn Tiến Hoàng</a:t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2302014 Hà Vũ Công</a:t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22024538 Trần Hữu Mạnh</a:t>
            </a:r>
            <a:endParaRPr sz="175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1613000" y="6973200"/>
            <a:ext cx="3017400" cy="125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170021"/>
            <a:ext cx="5259705" cy="788955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6280190" y="118788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Tại sao phải dùng OpenAPI?</a:t>
            </a:r>
            <a:endParaRPr b="0" i="0" sz="44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6280190" y="2945606"/>
            <a:ext cx="7556421" cy="4095988"/>
          </a:xfrm>
          <a:prstGeom prst="roundRect">
            <a:avLst>
              <a:gd fmla="val 2326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287810" y="2953226"/>
            <a:ext cx="3770590" cy="2403277"/>
          </a:xfrm>
          <a:prstGeom prst="roundRect">
            <a:avLst>
              <a:gd fmla="val 3964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514624" y="3180040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⚠️</a:t>
            </a: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Vấn đề</a:t>
            </a:r>
            <a:endParaRPr b="0" i="0" sz="220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6514624" y="3678079"/>
            <a:ext cx="331696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Khi Backend đổi logic, Frontend không biết → dẫn đến lỗi hệ thống.</a:t>
            </a:r>
            <a:endParaRPr b="0" i="0" sz="1750" u="none" cap="none" strike="noStrike"/>
          </a:p>
        </p:txBody>
      </p:sp>
      <p:sp>
        <p:nvSpPr>
          <p:cNvPr id="69" name="Google Shape;69;p13"/>
          <p:cNvSpPr/>
          <p:nvPr/>
        </p:nvSpPr>
        <p:spPr>
          <a:xfrm>
            <a:off x="10058400" y="2953226"/>
            <a:ext cx="3770590" cy="2403277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10058400" y="2953226"/>
            <a:ext cx="30480" cy="2403277"/>
          </a:xfrm>
          <a:prstGeom prst="roundRect">
            <a:avLst>
              <a:gd fmla="val 312558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0285214" y="3180040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✅</a:t>
            </a: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Giải pháp</a:t>
            </a:r>
            <a:endParaRPr b="0" i="0" sz="2200" u="none" cap="none" strike="noStrike"/>
          </a:p>
        </p:txBody>
      </p:sp>
      <p:sp>
        <p:nvSpPr>
          <p:cNvPr id="72" name="Google Shape;72;p13"/>
          <p:cNvSpPr/>
          <p:nvPr/>
        </p:nvSpPr>
        <p:spPr>
          <a:xfrm>
            <a:off x="10285214" y="3678079"/>
            <a:ext cx="331696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OpenAPI Specification (OAS) — file YAML/JSON định nghĩa: Endpoint (URL), Request (nhận vào), Response (trả về).</a:t>
            </a:r>
            <a:endParaRPr b="0" i="0" sz="1750" u="none" cap="none" strike="noStrike"/>
          </a:p>
        </p:txBody>
      </p:sp>
      <p:sp>
        <p:nvSpPr>
          <p:cNvPr id="73" name="Google Shape;73;p13"/>
          <p:cNvSpPr/>
          <p:nvPr/>
        </p:nvSpPr>
        <p:spPr>
          <a:xfrm>
            <a:off x="6287810" y="5356503"/>
            <a:ext cx="7541181" cy="1677472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287810" y="5356503"/>
            <a:ext cx="7541181" cy="30480"/>
          </a:xfrm>
          <a:prstGeom prst="roundRect">
            <a:avLst>
              <a:gd fmla="val 312558" name="adj"/>
            </a:avLst>
          </a:prstGeom>
          <a:solidFill>
            <a:srgbClr val="BCD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6514624" y="5583317"/>
            <a:ext cx="28352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🔧</a:t>
            </a: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Công cụ</a:t>
            </a:r>
            <a:endParaRPr b="0" i="0" sz="2200" u="none" cap="none" strike="noStrike"/>
          </a:p>
        </p:txBody>
      </p:sp>
      <p:sp>
        <p:nvSpPr>
          <p:cNvPr id="76" name="Google Shape;76;p13"/>
          <p:cNvSpPr/>
          <p:nvPr/>
        </p:nvSpPr>
        <p:spPr>
          <a:xfrm>
            <a:off x="6514624" y="6081355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Connexion (Python) tự động đọc YAML và điều hướng routing trong Flask.</a:t>
            </a:r>
            <a:endParaRPr b="0" i="0" sz="1750" u="none" cap="none" strike="noStrike"/>
          </a:p>
        </p:txBody>
      </p:sp>
      <p:sp>
        <p:nvSpPr>
          <p:cNvPr id="77" name="Google Shape;77;p13"/>
          <p:cNvSpPr/>
          <p:nvPr/>
        </p:nvSpPr>
        <p:spPr>
          <a:xfrm>
            <a:off x="11613000" y="7140900"/>
            <a:ext cx="3017400" cy="10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793790" y="103870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i="0" lang="en-US" sz="4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Cấu trúc Dự án</a:t>
            </a:r>
            <a:endParaRPr b="0" i="0" sz="445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793790" y="220110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Tổ chức thư mục chuẩn để dễ quản lý và mở rộng.</a:t>
            </a:r>
            <a:endParaRPr b="0" i="0" sz="175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793790" y="3074313"/>
            <a:ext cx="6244709" cy="3356848"/>
          </a:xfrm>
          <a:prstGeom prst="roundRect">
            <a:avLst>
              <a:gd fmla="val 28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782475" y="3074328"/>
            <a:ext cx="6267300" cy="4129800"/>
          </a:xfrm>
          <a:prstGeom prst="roundRect">
            <a:avLst>
              <a:gd fmla="val 101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1065975" y="3301124"/>
            <a:ext cx="57003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product_service/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├── swagger/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│   └── openapi.yaml   ← File thiết kế API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├── controllers/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│   └── product.py     ← Logic xử lý Python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├── app.py             ← File chạy chính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├── requirements.txt   ← Danh sách thư viện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rPr>
              <a:t>└── .env               ← Cấu hình Database </a:t>
            </a:r>
            <a:endParaRPr b="0" i="0" sz="17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7599521" y="3074313"/>
            <a:ext cx="3008948" cy="2175867"/>
          </a:xfrm>
          <a:prstGeom prst="roundRect">
            <a:avLst>
              <a:gd fmla="val 4378" name="adj"/>
            </a:avLst>
          </a:prstGeom>
          <a:solidFill>
            <a:srgbClr val="FFFFFF"/>
          </a:solidFill>
          <a:ln cap="flat" cmpd="sng" w="304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856815" y="3331607"/>
            <a:ext cx="249435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swagger/openapi.yaml</a:t>
            </a:r>
            <a:endParaRPr b="0" i="0" sz="220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7856815" y="4267081"/>
            <a:ext cx="249435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</a:t>
            </a:r>
            <a:r>
              <a:rPr lang="en-US" sz="17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Đ</a:t>
            </a: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ịnh nghĩa toàn bộ API.</a:t>
            </a:r>
            <a:endParaRPr b="0" i="0" sz="1750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10835283" y="3074313"/>
            <a:ext cx="3008948" cy="2175867"/>
          </a:xfrm>
          <a:prstGeom prst="roundRect">
            <a:avLst>
              <a:gd fmla="val 4378" name="adj"/>
            </a:avLst>
          </a:prstGeom>
          <a:solidFill>
            <a:srgbClr val="FFFFFF"/>
          </a:solidFill>
          <a:ln cap="flat" cmpd="sng" w="304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11092577" y="3331607"/>
            <a:ext cx="249435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controllers/product.py</a:t>
            </a:r>
            <a:endParaRPr b="0" i="0" sz="220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11092577" y="4267081"/>
            <a:ext cx="249435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Logic xử lý tương ứng với operationId.</a:t>
            </a:r>
            <a:endParaRPr b="0" i="0" sz="175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7599521" y="5476994"/>
            <a:ext cx="6244709" cy="1458635"/>
          </a:xfrm>
          <a:prstGeom prst="roundRect">
            <a:avLst>
              <a:gd fmla="val 6531" name="adj"/>
            </a:avLst>
          </a:prstGeom>
          <a:solidFill>
            <a:srgbClr val="FFFFFF"/>
          </a:solidFill>
          <a:ln cap="flat" cmpd="sng" w="3047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7856815" y="57342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200"/>
              <a:buFont typeface="Unbounded"/>
              <a:buNone/>
            </a:pPr>
            <a:r>
              <a:rPr b="1" i="0" lang="en-US" sz="2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app.py</a:t>
            </a:r>
            <a:endParaRPr b="0" i="0" sz="220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7856815" y="6315432"/>
            <a:ext cx="57301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Khởi tạo Connexion + cấu hình MongoDB.</a:t>
            </a:r>
            <a:endParaRPr b="0" i="0" sz="17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11613000" y="6973200"/>
            <a:ext cx="3017400" cy="125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2546509" y="510659"/>
            <a:ext cx="5921693" cy="43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Viết File Thiết kế </a:t>
            </a:r>
            <a:r>
              <a:rPr b="1" i="0" lang="en-US" sz="270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openapi.yaml</a:t>
            </a:r>
            <a:endParaRPr b="0" i="0" sz="27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2546509" y="1110853"/>
            <a:ext cx="9537383" cy="177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Đây là </a:t>
            </a: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kết nối giữa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 giữa Backend và Frontend.</a:t>
            </a:r>
            <a:endParaRPr b="0" i="0" sz="10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2546509" y="1478042"/>
            <a:ext cx="4600099" cy="6146244"/>
          </a:xfrm>
          <a:prstGeom prst="roundRect">
            <a:avLst>
              <a:gd fmla="val 126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2539603" y="1478042"/>
            <a:ext cx="4613910" cy="6146244"/>
          </a:xfrm>
          <a:prstGeom prst="roundRect">
            <a:avLst>
              <a:gd fmla="val 44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2712363" y="1616154"/>
            <a:ext cx="4268400" cy="58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1050"/>
              <a:buFont typeface="Consolas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7491413" y="1478042"/>
            <a:ext cx="4600099" cy="784622"/>
          </a:xfrm>
          <a:prstGeom prst="roundRect">
            <a:avLst>
              <a:gd fmla="val 9323" name="adj"/>
            </a:avLst>
          </a:prstGeom>
          <a:solidFill>
            <a:srgbClr val="FFFFFF"/>
          </a:solidFill>
          <a:ln cap="flat" cmpd="sng" w="152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476173" y="1478042"/>
            <a:ext cx="60960" cy="784622"/>
          </a:xfrm>
          <a:prstGeom prst="roundRect">
            <a:avLst>
              <a:gd fmla="val 9523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90485" y="1631394"/>
            <a:ext cx="1727716" cy="21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paths</a:t>
            </a:r>
            <a:endParaRPr b="0" i="0" sz="135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7690485" y="1931432"/>
            <a:ext cx="4247674" cy="177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Định nghĩa endpoint </a:t>
            </a:r>
            <a:r>
              <a:rPr b="0" i="0" lang="en-US" sz="10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/products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với GET và POST.</a:t>
            </a:r>
            <a:endParaRPr b="0" i="0" sz="105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7491413" y="2346841"/>
            <a:ext cx="4600099" cy="784622"/>
          </a:xfrm>
          <a:prstGeom prst="roundRect">
            <a:avLst>
              <a:gd fmla="val 9323" name="adj"/>
            </a:avLst>
          </a:prstGeom>
          <a:solidFill>
            <a:srgbClr val="FFFFFF"/>
          </a:solidFill>
          <a:ln cap="flat" cmpd="sng" w="152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476173" y="2346841"/>
            <a:ext cx="60960" cy="784622"/>
          </a:xfrm>
          <a:prstGeom prst="roundRect">
            <a:avLst>
              <a:gd fmla="val 9523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90485" y="2500193"/>
            <a:ext cx="1727716" cy="21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operationId</a:t>
            </a:r>
            <a:endParaRPr b="0" i="0" sz="135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7690485" y="2800231"/>
            <a:ext cx="4247674" cy="177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Liên kết trực tiếp tới hàm Python trong controller.</a:t>
            </a:r>
            <a:endParaRPr b="0" i="0" sz="105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7491413" y="3215640"/>
            <a:ext cx="4600099" cy="784622"/>
          </a:xfrm>
          <a:prstGeom prst="roundRect">
            <a:avLst>
              <a:gd fmla="val 9323" name="adj"/>
            </a:avLst>
          </a:prstGeom>
          <a:solidFill>
            <a:srgbClr val="FFFFFF"/>
          </a:solidFill>
          <a:ln cap="flat" cmpd="sng" w="152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476173" y="3215640"/>
            <a:ext cx="60960" cy="784622"/>
          </a:xfrm>
          <a:prstGeom prst="roundRect">
            <a:avLst>
              <a:gd fmla="val 95233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90485" y="3368993"/>
            <a:ext cx="2452449" cy="21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350"/>
              <a:buFont typeface="Unbounded"/>
              <a:buNone/>
            </a:pPr>
            <a:r>
              <a:rPr b="1" i="0" lang="en-US" sz="13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components/schemas</a:t>
            </a:r>
            <a:endParaRPr b="0" i="0" sz="135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7690485" y="3669030"/>
            <a:ext cx="4247674" cy="177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Schema </a:t>
            </a:r>
            <a:r>
              <a:rPr b="0" i="0" lang="en-US" sz="10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b="0" i="0" lang="en-US" sz="10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0" i="0" lang="en-US" sz="10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(bắt buộc), </a:t>
            </a:r>
            <a:r>
              <a:rPr b="0" i="0" lang="en-US" sz="10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description</a:t>
            </a:r>
            <a:r>
              <a:rPr b="0" i="0" lang="en-US" sz="10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05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11613000" y="7444975"/>
            <a:ext cx="3017400" cy="78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693" y="1616150"/>
            <a:ext cx="4093712" cy="58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956905" y="535543"/>
            <a:ext cx="7897773" cy="58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Cấu hình App Chính — </a:t>
            </a:r>
            <a:r>
              <a:rPr b="1" i="0" lang="en-US" sz="360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 b="0" i="0" sz="3600" u="none" cap="none" strike="noStrike"/>
          </a:p>
        </p:txBody>
      </p:sp>
      <p:sp>
        <p:nvSpPr>
          <p:cNvPr id="128" name="Google Shape;128;p16"/>
          <p:cNvSpPr/>
          <p:nvPr/>
        </p:nvSpPr>
        <p:spPr>
          <a:xfrm>
            <a:off x="956905" y="1418511"/>
            <a:ext cx="12716470" cy="26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Sử dụng Connexion để s</a:t>
            </a:r>
            <a:r>
              <a:rPr lang="en-US" sz="14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ử dụng 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file YAML và tự động tạo routing.</a:t>
            </a:r>
            <a:endParaRPr b="0" i="0" sz="14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956905" y="6398419"/>
            <a:ext cx="4138970" cy="1295638"/>
          </a:xfrm>
          <a:prstGeom prst="roundRect">
            <a:avLst>
              <a:gd fmla="val 5974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1148715" y="6590228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connexion.App</a:t>
            </a:r>
            <a:endParaRPr b="0" i="0" sz="1800" u="none" cap="none" strike="noStrike"/>
          </a:p>
        </p:txBody>
      </p:sp>
      <p:sp>
        <p:nvSpPr>
          <p:cNvPr id="131" name="Google Shape;131;p16"/>
          <p:cNvSpPr/>
          <p:nvPr/>
        </p:nvSpPr>
        <p:spPr>
          <a:xfrm>
            <a:off x="1148715" y="6967895"/>
            <a:ext cx="3755350" cy="26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Thay thế Flask thông thường, đọc spec_dir.</a:t>
            </a:r>
            <a:endParaRPr b="0" i="0" sz="14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5245537" y="6398419"/>
            <a:ext cx="4139089" cy="1295638"/>
          </a:xfrm>
          <a:prstGeom prst="roundRect">
            <a:avLst>
              <a:gd fmla="val 5974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437346" y="6590228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MONGO_URI</a:t>
            </a:r>
            <a:endParaRPr b="0" i="0" sz="180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5437346" y="6967895"/>
            <a:ext cx="3755469" cy="53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Kết nối MongoDB tại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localhost:27017/shop_db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4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9534287" y="6398419"/>
            <a:ext cx="4138970" cy="1295638"/>
          </a:xfrm>
          <a:prstGeom prst="roundRect">
            <a:avLst>
              <a:gd fmla="val 5974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9726097" y="6590228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add_api()</a:t>
            </a:r>
            <a:endParaRPr b="0" i="0" sz="180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9726097" y="6967895"/>
            <a:ext cx="3755350" cy="53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Tự động register toàn bộ endpoint từ YAML.</a:t>
            </a:r>
            <a:endParaRPr b="0" i="0" sz="145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12601850" y="7695325"/>
            <a:ext cx="2028600" cy="53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551" y="1816300"/>
            <a:ext cx="8169262" cy="43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834625" y="602325"/>
            <a:ext cx="13371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50"/>
              <a:buFont typeface="Unbounded"/>
              <a:buNone/>
            </a:pPr>
            <a:r>
              <a:rPr b="1" i="0" lang="en-US" sz="36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Viết Logic Controller — </a:t>
            </a:r>
            <a:r>
              <a:rPr b="1" i="0" lang="en-US" sz="36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controllers/product.py</a:t>
            </a:r>
            <a:endParaRPr b="0" i="0" sz="365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834628" y="1508046"/>
            <a:ext cx="12961025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Hàm Python tương ứng với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operationId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trong file YAML.</a:t>
            </a:r>
            <a:endParaRPr b="0" i="0" sz="14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834625" y="2132526"/>
            <a:ext cx="6251400" cy="4239600"/>
          </a:xfrm>
          <a:prstGeom prst="roundRect">
            <a:avLst>
              <a:gd fmla="val 148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825350" y="2132526"/>
            <a:ext cx="6270000" cy="4239600"/>
          </a:xfrm>
          <a:prstGeom prst="roundRect">
            <a:avLst>
              <a:gd fmla="val 53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2143" y="2138303"/>
            <a:ext cx="281702" cy="281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8162092" y="2132528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get_all()</a:t>
            </a:r>
            <a:endParaRPr b="0" i="0" sz="1800" u="none" cap="none" strike="noStrike"/>
          </a:p>
        </p:txBody>
      </p:sp>
      <p:sp>
        <p:nvSpPr>
          <p:cNvPr id="151" name="Google Shape;151;p17"/>
          <p:cNvSpPr/>
          <p:nvPr/>
        </p:nvSpPr>
        <p:spPr>
          <a:xfrm>
            <a:off x="8162092" y="2581513"/>
            <a:ext cx="5641062" cy="5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Lấy toàn bộ sản phẩm từ collection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products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Chuyển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_id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sang String để JSON đọc được.</a:t>
            </a:r>
            <a:endParaRPr b="0" i="0" sz="1450" u="none" cap="none" strike="noStrike"/>
          </a:p>
        </p:txBody>
      </p:sp>
      <p:pic>
        <p:nvPicPr>
          <p:cNvPr descr="preencoded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2143" y="3447752"/>
            <a:ext cx="281702" cy="281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8162092" y="3441978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00"/>
              <a:buFont typeface="Unbounded"/>
              <a:buNone/>
            </a:pPr>
            <a:r>
              <a:rPr b="1" i="0" lang="en-US" sz="1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create()</a:t>
            </a:r>
            <a:endParaRPr b="0" i="0" sz="180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8162092" y="3890963"/>
            <a:ext cx="5641062" cy="5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Đọc JSON từ request, insert vào MongoDB, trả về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inserted_id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và status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201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45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12454125" y="7635000"/>
            <a:ext cx="2176200" cy="5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250" y="2267739"/>
            <a:ext cx="5852201" cy="3795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712351" y="565071"/>
            <a:ext cx="8955048" cy="598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750"/>
              <a:buFont typeface="Unbounded"/>
              <a:buNone/>
            </a:pPr>
            <a:r>
              <a:rPr b="1" i="0" lang="en-US" sz="3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Kết nối Database — MongoDB</a:t>
            </a:r>
            <a:endParaRPr b="0" i="0" sz="3750" u="none" cap="none" strike="noStrike"/>
          </a:p>
        </p:txBody>
      </p:sp>
      <p:pic>
        <p:nvPicPr>
          <p:cNvPr descr="preencoded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51" y="1586865"/>
            <a:ext cx="4318397" cy="431839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5505331" y="3382804"/>
            <a:ext cx="3576637" cy="29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Tại sao chọn MongoDB?</a:t>
            </a:r>
            <a:endParaRPr b="0" i="0" sz="18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5505331" y="3843218"/>
            <a:ext cx="8420100" cy="28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Cấu trúc JSON-like tương đồng hoàn toàn với API — lưu trữ và truy xuất tự nhiên.</a:t>
            </a:r>
            <a:endParaRPr b="0" i="0" sz="150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712351" y="6268403"/>
            <a:ext cx="6522006" cy="1396127"/>
          </a:xfrm>
          <a:prstGeom prst="roundRect">
            <a:avLst>
              <a:gd fmla="val 7859" name="adj"/>
            </a:avLst>
          </a:prstGeom>
          <a:solidFill>
            <a:srgbClr val="FFFFFF"/>
          </a:solidFill>
          <a:ln cap="flat" cmpd="sng" w="228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89491" y="6268403"/>
            <a:ext cx="91440" cy="1396127"/>
          </a:xfrm>
          <a:prstGeom prst="roundRect">
            <a:avLst>
              <a:gd fmla="val 87907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995125" y="6482601"/>
            <a:ext cx="36936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⚠️</a:t>
            </a: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Lưu ý kỹ thuật</a:t>
            </a:r>
            <a:endParaRPr b="0" i="0" sz="18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995124" y="6885980"/>
            <a:ext cx="6025039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Dữ liệu trả về có field </a:t>
            </a:r>
            <a:r>
              <a:rPr b="0" i="0" lang="en-US" sz="150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_id</a:t>
            </a: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kiểu </a:t>
            </a:r>
            <a:r>
              <a:rPr b="0" i="0" lang="en-US" sz="150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ObjectId</a:t>
            </a: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Phải ép kiểu </a:t>
            </a:r>
            <a:r>
              <a:rPr b="0" i="0" lang="en-US" sz="150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str(_id)</a:t>
            </a: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trước khi trả về Frontend.</a:t>
            </a:r>
            <a:endParaRPr b="0" i="0" sz="150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7395805" y="6268403"/>
            <a:ext cx="6522125" cy="1396127"/>
          </a:xfrm>
          <a:prstGeom prst="roundRect">
            <a:avLst>
              <a:gd fmla="val 7859" name="adj"/>
            </a:avLst>
          </a:prstGeom>
          <a:solidFill>
            <a:srgbClr val="FFFFFF"/>
          </a:solidFill>
          <a:ln cap="flat" cmpd="sng" w="22850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372945" y="6268403"/>
            <a:ext cx="91440" cy="1396127"/>
          </a:xfrm>
          <a:prstGeom prst="roundRect">
            <a:avLst>
              <a:gd fmla="val 87907" name="adj"/>
            </a:avLst>
          </a:prstGeom>
          <a:solidFill>
            <a:srgbClr val="26A6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678579" y="6482596"/>
            <a:ext cx="2392323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Unbounded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🔍</a:t>
            </a:r>
            <a:r>
              <a:rPr b="1" i="0" lang="en-US" sz="18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Tip</a:t>
            </a:r>
            <a:endParaRPr b="0" i="0" sz="18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7678579" y="6885980"/>
            <a:ext cx="6025158" cy="564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Dùng </a:t>
            </a:r>
            <a:r>
              <a:rPr b="1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MongoDB Compass</a:t>
            </a:r>
            <a:r>
              <a:rPr b="0" i="0" lang="en-US" sz="15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để quan sát dữ liệu trực quan trong quá trình học.</a:t>
            </a:r>
            <a:endParaRPr b="0" i="0" sz="150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11613000" y="7794900"/>
            <a:ext cx="3017400" cy="43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956898" y="534700"/>
            <a:ext cx="8184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00"/>
              <a:buFont typeface="Unbounded"/>
              <a:buNone/>
            </a:pPr>
            <a:r>
              <a:rPr b="1" i="0" lang="en-US" sz="36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Chạy Thử và Kiểm tra</a:t>
            </a:r>
            <a:endParaRPr b="0" i="0" sz="3600" u="none" cap="none" strike="noStrike"/>
          </a:p>
        </p:txBody>
      </p:sp>
      <p:pic>
        <p:nvPicPr>
          <p:cNvPr descr="preencoded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905" y="1410057"/>
            <a:ext cx="12716470" cy="558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3114147" y="5093674"/>
            <a:ext cx="2229054" cy="6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50"/>
              <a:buFont typeface="Unbounded"/>
              <a:buNone/>
            </a:pPr>
            <a:r>
              <a:rPr b="1" i="0" lang="en-US" sz="2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Chạy ứng dụng</a:t>
            </a:r>
            <a:endParaRPr b="0" i="0" sz="215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3114147" y="5880580"/>
            <a:ext cx="2229054" cy="49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python app.py ở terminal</a:t>
            </a:r>
            <a:endParaRPr b="0" i="0" sz="170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9372646" y="5352404"/>
            <a:ext cx="2229055" cy="344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50"/>
              <a:buFont typeface="Unbounded"/>
              <a:buNone/>
            </a:pPr>
            <a:r>
              <a:rPr b="1" i="0" lang="en-US" sz="2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Kiểm tra API</a:t>
            </a:r>
            <a:endParaRPr b="0" i="0" sz="215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>
            <a:off x="9372646" y="5794847"/>
            <a:ext cx="2229055" cy="49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POST /products rồi GET /products</a:t>
            </a:r>
            <a:endParaRPr b="0" i="0" sz="1700" u="none" cap="none" strike="noStrike"/>
          </a:p>
        </p:txBody>
      </p:sp>
      <p:sp>
        <p:nvSpPr>
          <p:cNvPr id="186" name="Google Shape;186;p19"/>
          <p:cNvSpPr/>
          <p:nvPr/>
        </p:nvSpPr>
        <p:spPr>
          <a:xfrm>
            <a:off x="6261768" y="1995427"/>
            <a:ext cx="2229054" cy="344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150"/>
              <a:buFont typeface="Unbounded"/>
              <a:buNone/>
            </a:pPr>
            <a:r>
              <a:rPr b="1" i="0" lang="en-US" sz="2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Mở Swagger</a:t>
            </a:r>
            <a:endParaRPr b="0" i="0" sz="215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6261768" y="2437869"/>
            <a:ext cx="2229054" cy="49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70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700"/>
              <a:buFont typeface="Open Sans"/>
              <a:buNone/>
            </a:pPr>
            <a:r>
              <a:rPr b="0" i="0" lang="en-US" sz="1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Truy cập localhost:8080/ui</a:t>
            </a:r>
            <a:endParaRPr b="0" i="0" sz="170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956905" y="7160538"/>
            <a:ext cx="12716470" cy="53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Truy cập </a:t>
            </a:r>
            <a:r>
              <a:rPr b="0" i="0" lang="en-US" sz="1450" u="none" cap="none" strike="noStrike">
                <a:solidFill>
                  <a:srgbClr val="333F7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http://localhost:8080/ui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Swagger UI hiện ra tự động. Thực hành: </a:t>
            </a: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POST /products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→ Try it out → Nhập thông tin → Execute, sau đó </a:t>
            </a:r>
            <a:r>
              <a:rPr b="1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GET /products</a:t>
            </a:r>
            <a:r>
              <a:rPr b="0" i="0" lang="en-US" sz="1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để xem kết quả vừa tạo.</a:t>
            </a:r>
            <a:endParaRPr b="0" i="0" sz="145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11613000" y="7730050"/>
            <a:ext cx="30174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834625" y="602325"/>
            <a:ext cx="13371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3650"/>
              <a:buFont typeface="Unbounded"/>
              <a:buNone/>
            </a:pPr>
            <a:r>
              <a:rPr b="1" lang="en-US" sz="36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Kết quả thử nghiệm</a:t>
            </a:r>
            <a:endParaRPr b="0" i="0" sz="3650" u="none" cap="none" strike="noStrike"/>
          </a:p>
        </p:txBody>
      </p:sp>
      <p:sp>
        <p:nvSpPr>
          <p:cNvPr id="196" name="Google Shape;196;p20"/>
          <p:cNvSpPr/>
          <p:nvPr/>
        </p:nvSpPr>
        <p:spPr>
          <a:xfrm>
            <a:off x="834628" y="1508046"/>
            <a:ext cx="129609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Open Sans"/>
              <a:buNone/>
            </a:pPr>
            <a:r>
              <a:rPr lang="en-US" sz="14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Đây là kết quả sau khi chạy thử</a:t>
            </a:r>
            <a:endParaRPr b="0" i="0" sz="1450" u="none" cap="none" strike="noStrike"/>
          </a:p>
        </p:txBody>
      </p:sp>
      <p:pic>
        <p:nvPicPr>
          <p:cNvPr descr="preencoded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2143" y="2138303"/>
            <a:ext cx="281702" cy="281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2143" y="3447752"/>
            <a:ext cx="281702" cy="28170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12454125" y="7635000"/>
            <a:ext cx="2176200" cy="59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25" y="2093963"/>
            <a:ext cx="7239574" cy="2183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25" y="4757200"/>
            <a:ext cx="7239576" cy="197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3124" y="2419996"/>
            <a:ext cx="6251401" cy="3102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941500" y="3290200"/>
            <a:ext cx="13369500" cy="31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450"/>
              <a:buFont typeface="Unbounded"/>
              <a:buNone/>
            </a:pPr>
            <a:r>
              <a:rPr b="1" lang="en-US" sz="435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Cảm ơn thầy và các bạn đã lắng nghe</a:t>
            </a:r>
            <a:endParaRPr b="0" i="0" sz="4350" u="none" cap="none" strike="noStrike"/>
          </a:p>
        </p:txBody>
      </p:sp>
      <p:sp>
        <p:nvSpPr>
          <p:cNvPr id="209" name="Google Shape;209;p21"/>
          <p:cNvSpPr/>
          <p:nvPr/>
        </p:nvSpPr>
        <p:spPr>
          <a:xfrm>
            <a:off x="11613000" y="7730050"/>
            <a:ext cx="3017400" cy="49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