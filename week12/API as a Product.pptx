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655767-ED4C-44B9-8155-EFAD639F9CA6}">
  <a:tblStyle styleId="{CC655767-ED4C-44B9-8155-EFAD639F9CA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82cdcd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55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482cdcd6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10" Type="http://schemas.openxmlformats.org/officeDocument/2006/relationships/image" Target="../media/image9.png"/><Relationship Id="rId9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11" Type="http://schemas.openxmlformats.org/officeDocument/2006/relationships/image" Target="../media/image13.png"/><Relationship Id="rId10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Relationship Id="rId8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9" Type="http://schemas.openxmlformats.org/officeDocument/2006/relationships/image" Target="../media/image3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6925" y="2465800"/>
            <a:ext cx="4236700" cy="2303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25" y="2465800"/>
            <a:ext cx="4236700" cy="230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21259" y="2780131"/>
            <a:ext cx="378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Kiến thức đạt được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562750" y="2780131"/>
            <a:ext cx="378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47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Kỹ năng thực hành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1259" y="280870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326059" y="3256381"/>
            <a:ext cx="330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API là sản phẩm: developer experience, monetization, analytics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326059" y="3980281"/>
            <a:ext cx="330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KPIs: số lượng developer đăng ký, call volume, error rate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50" y="2808706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6867550" y="3256381"/>
            <a:ext cx="330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Thiết kế chiến lược ra mắt API (developer portal, docs, sandbox)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867550" y="4009825"/>
            <a:ext cx="3483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Đề xuất mô hình kiếm tiền từ API (freemium, pay-per-call)</a:t>
            </a:r>
            <a:endParaRPr/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1259" y="3308769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1259" y="4032669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50" y="3308769"/>
            <a:ext cx="952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335279" y="645925"/>
            <a:ext cx="1152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Buổi </a:t>
            </a:r>
            <a:r>
              <a:rPr b="1" lang="en-US" sz="4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r>
              <a:rPr b="1" i="0" lang="en-US" sz="4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b="1" lang="en-US" sz="4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API as a Product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2110650" y="1477200"/>
            <a:ext cx="79707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Chuyển dịch tư duy từ việc xây dựng hệ thống kỹ thuật sang phát triển một sản phẩm kinh doanh hoàn chỉnh.</a:t>
            </a:r>
            <a:endParaRPr/>
          </a:p>
        </p:txBody>
      </p:sp>
      <p:pic>
        <p:nvPicPr>
          <p:cNvPr descr="image.png"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6925" y="4931900"/>
            <a:ext cx="8778200" cy="151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2021259" y="5103006"/>
            <a:ext cx="378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Nhóm 1:</a:t>
            </a:r>
            <a:endParaRPr/>
          </a:p>
        </p:txBody>
      </p:sp>
      <p:pic>
        <p:nvPicPr>
          <p:cNvPr descr="image.png" id="101" name="Google Shape;1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1259" y="513120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2326050" y="5551250"/>
            <a:ext cx="330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23020094: Tôn Thiện Khoẻ 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21020123: Nguyễn Tiến Hoàng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805300" y="5551250"/>
            <a:ext cx="330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23020014: Hà Vũ Công 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22024538: Trần Hữu Mạnh</a:t>
            </a:r>
            <a:endParaRPr/>
          </a:p>
        </p:txBody>
      </p:sp>
      <p:pic>
        <p:nvPicPr>
          <p:cNvPr descr="image.png" id="104" name="Google Shape;10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6984" y="5955894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6984" y="559098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59" y="5587069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59" y="5955894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50" y="4022032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072949"/>
            <a:ext cx="11049000" cy="123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9319"/>
            <a:ext cx="5286375" cy="2992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99319"/>
            <a:ext cx="5286375" cy="299263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</a:rPr>
              <a:t>API không chỉ là code — API là sản phẩm</a:t>
            </a:r>
            <a:endParaRPr b="1"/>
          </a:p>
        </p:txBody>
      </p:sp>
      <p:sp>
        <p:nvSpPr>
          <p:cNvPr id="117" name="Google Shape;117;p14"/>
          <p:cNvSpPr txBox="1"/>
          <p:nvPr/>
        </p:nvSpPr>
        <p:spPr>
          <a:xfrm>
            <a:off x="847725" y="5311075"/>
            <a:ext cx="10534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Ví dụ thực tế chứng minh API là một mô hình kinh doanh tỷ đô: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		(Doanh thu $14B 2023) •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		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(SMS API - Doanh thu $3.8B) • 				  (Doanh thu $10B+)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962025" y="2089844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Góc nhìn Kỹ thuật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24650" y="2089844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Góc nhìn Sản phẩm</a:t>
            </a:r>
            <a:endParaRPr/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5745905"/>
            <a:ext cx="6953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86225" y="5745905"/>
            <a:ext cx="685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31150" y="5745905"/>
            <a:ext cx="1724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2146994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1200150" y="2632769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Thiết kế Endpoint, Schema, Protocol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200150" y="3049934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Đảm bảo Uptime, tối ưu Latency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200150" y="3467100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Triển khai Rate Limiting bảo vệ server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200150" y="388426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Theo dõi Logs, xử lý Errors</a:t>
            </a:r>
            <a:endParaRPr/>
          </a:p>
        </p:txBody>
      </p:sp>
      <p:pic>
        <p:nvPicPr>
          <p:cNvPr descr="image.png" id="128" name="Google Shape;12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24650" y="2146994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/>
        </p:nvSpPr>
        <p:spPr>
          <a:xfrm>
            <a:off x="6962775" y="2632769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Tối ưu Developer Experience, Onboarding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962775" y="3049934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Cam kết SLA, xây dựng Trust, Brand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962775" y="3467100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Thiết kế Pricing tiers, phân bổ Quota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962775" y="388426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Đo lường KPIs, Analytics, tỷ lệ Churn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962025" y="2594669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962025" y="3011834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62025" y="342900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62025" y="384616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6724650" y="2594669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6724650" y="3011834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724650" y="342900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6724650" y="384616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71625"/>
            <a:ext cx="110490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</a:rPr>
              <a:t>Developer Experience (DX) — Yếu tố quyết định</a:t>
            </a:r>
            <a:endParaRPr b="1"/>
          </a:p>
        </p:txBody>
      </p:sp>
      <p:sp>
        <p:nvSpPr>
          <p:cNvPr id="147" name="Google Shape;147;p15"/>
          <p:cNvSpPr txBox="1"/>
          <p:nvPr/>
        </p:nvSpPr>
        <p:spPr>
          <a:xfrm>
            <a:off x="904875" y="1762125"/>
            <a:ext cx="10429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Time-to-first-call là KPI quan trọng nhất khi ra mắt API. Developer không kiên nhẫn. Nếu mất &gt; 30 phút, họ sẽ chuyển sang đối thủ.</a:t>
            </a:r>
            <a:endParaRPr/>
          </a:p>
        </p:txBody>
      </p:sp>
      <p:pic>
        <p:nvPicPr>
          <p:cNvPr descr="image.png" id="148" name="Google Shape;1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18192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571500" y="284797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Checklist DX Tiêu Chuẩn: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52500" y="3371850"/>
            <a:ext cx="490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Sandbox: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Cho phép test ngay không cần đăng ký.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52500" y="3836640"/>
            <a:ext cx="490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Instant key: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Đăng ký xong, nhận key ngay lập tức.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52500" y="4301430"/>
            <a:ext cx="490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 docs: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Swagger UI tự động đồng bộ với source code.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657650" y="3371850"/>
            <a:ext cx="5060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Consistent errors: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Mọi lỗi cùng format chuẩn {error, message, hint}.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6657650" y="4110925"/>
            <a:ext cx="506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Copy-paste examples: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Có sẵn cURL, Python, JS trong docs.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6657650" y="4555700"/>
            <a:ext cx="4962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Quota headers: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Trả về `X-Quota-Remaining` trong mỗi response.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71500" y="3333750"/>
            <a:ext cx="133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71500" y="3798540"/>
            <a:ext cx="133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571500" y="4263330"/>
            <a:ext cx="133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276650" y="333374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276650" y="4072826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276650" y="4517606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162" name="Google Shape;16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956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604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2524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650" y="339565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650" y="413473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650" y="4579519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22239"/>
            <a:ext cx="11049000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72025"/>
            <a:ext cx="5381625" cy="1363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772025"/>
            <a:ext cx="5381625" cy="13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</a:rPr>
              <a:t>Kiếm tiền từ API — Freemium &amp; Feature Gating</a:t>
            </a:r>
            <a:endParaRPr b="1"/>
          </a:p>
        </p:txBody>
      </p:sp>
      <p:graphicFrame>
        <p:nvGraphicFramePr>
          <p:cNvPr id="176" name="Google Shape;176;p16"/>
          <p:cNvGraphicFramePr/>
          <p:nvPr/>
        </p:nvGraphicFramePr>
        <p:xfrm>
          <a:off x="581025" y="17317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{CC655767-ED4C-44B9-8155-EFAD639F9CA6}</a:tableStyleId>
              </a:tblPr>
              <a:tblGrid>
                <a:gridCol w="1890700"/>
                <a:gridCol w="2164850"/>
                <a:gridCol w="2808825"/>
                <a:gridCol w="4165550"/>
              </a:tblGrid>
              <a:tr h="66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Plan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Mức Giá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Giới Hạn (Quota)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Tính Năng Được Phép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6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 / tháng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 calls / ngày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CRUD cơ bản, Sandbox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$29 / tháng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10,000 calls / ngày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 Tính năng Search, Analytics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$299 / tháng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Không giới hạn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 SLA 99.9%, Support 24/7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16"/>
          <p:cNvSpPr/>
          <p:nvPr/>
        </p:nvSpPr>
        <p:spPr>
          <a:xfrm>
            <a:off x="581025" y="2382291"/>
            <a:ext cx="1890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2471737" y="2382291"/>
            <a:ext cx="2164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636591" y="2382291"/>
            <a:ext cx="280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7445424" y="2382291"/>
            <a:ext cx="4165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819150" y="5019675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Quota Gating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819150" y="5400675"/>
            <a:ext cx="48863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Giới hạn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SỐ LƯỢNG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(VD: Trả lỗi HTTP 429 Too Many Requests khi vượt quá 100 requests/ngày đối với gói Free).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6486525" y="5019675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Feature Gating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486525" y="5400675"/>
            <a:ext cx="48863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Giới hạn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TÍNH NĂNG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(VD: Trả lỗi HTTP 403 Forbidden khi người dùng gói Free cố gắng gọi API Search nâng cao).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581025" y="3047107"/>
            <a:ext cx="1890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2471737" y="3047107"/>
            <a:ext cx="2164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4636591" y="3047107"/>
            <a:ext cx="280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7445424" y="3047107"/>
            <a:ext cx="4165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581025" y="3711922"/>
            <a:ext cx="1890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2471737" y="3711922"/>
            <a:ext cx="2164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4636591" y="3711922"/>
            <a:ext cx="280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7445424" y="3711922"/>
            <a:ext cx="4165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3" name="Google Shape;19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50673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506730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71625"/>
            <a:ext cx="3492549" cy="4768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1571625"/>
            <a:ext cx="3492549" cy="4768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1571625"/>
            <a:ext cx="3492549" cy="47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</a:rPr>
              <a:t>Đo lường KPIs: API as a Product</a:t>
            </a:r>
            <a:endParaRPr b="1"/>
          </a:p>
        </p:txBody>
      </p:sp>
      <p:pic>
        <p:nvPicPr>
          <p:cNvPr descr="image.png" id="203" name="Google Shape;20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6700" y="1962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1672619" y="2962275"/>
            <a:ext cx="12901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Acquisition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446271" y="3528913"/>
            <a:ext cx="174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Thu hút Developer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866775" y="3996630"/>
            <a:ext cx="2901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1962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/>
          <p:nvPr/>
        </p:nvSpPr>
        <p:spPr>
          <a:xfrm>
            <a:off x="5340905" y="2962275"/>
            <a:ext cx="15101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Engagement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4746513" y="3528913"/>
            <a:ext cx="269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Mức độ giữ chân &amp; Chất lượng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4645074" y="3996630"/>
            <a:ext cx="2901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93299" y="1962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9379237" y="2962275"/>
            <a:ext cx="9901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Revenue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8819572" y="3528900"/>
            <a:ext cx="210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Doanh thu &amp; Chuyển đổi</a:t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8423374" y="3996630"/>
            <a:ext cx="2901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27200" y="21907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/>
        </p:nvSpPr>
        <p:spPr>
          <a:xfrm>
            <a:off x="866775" y="4196655"/>
            <a:ext cx="2901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Registered Developers (Target: +20%/tháng)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866775" y="4453830"/>
            <a:ext cx="290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</a:rPr>
              <a:t>Tổng ĐK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866775" y="5120580"/>
            <a:ext cx="29019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Time-to-first-call (Target: &lt; 5 phút)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866775" y="5377755"/>
            <a:ext cx="290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</a:rPr>
              <a:t>Tốc độ</a:t>
            </a:r>
            <a:endParaRPr/>
          </a:p>
        </p:txBody>
      </p:sp>
      <p:pic>
        <p:nvPicPr>
          <p:cNvPr descr="image.png" id="220" name="Google Shape;22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43600" y="2190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 txBox="1"/>
          <p:nvPr/>
        </p:nvSpPr>
        <p:spPr>
          <a:xfrm>
            <a:off x="4645074" y="4196655"/>
            <a:ext cx="29019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Developers (Target: &gt; 60%)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4645074" y="4453830"/>
            <a:ext cx="290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</a:rPr>
              <a:t>30 Ngày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4645074" y="5120580"/>
            <a:ext cx="29019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Rate (Target: &lt; 1%)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4645074" y="5377755"/>
            <a:ext cx="290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</a:rPr>
              <a:t>Lỗi / Tổng</a:t>
            </a:r>
            <a:endParaRPr/>
          </a:p>
        </p:txBody>
      </p:sp>
      <p:pic>
        <p:nvPicPr>
          <p:cNvPr descr="image.png" id="225" name="Google Shape;22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21899" y="2190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 txBox="1"/>
          <p:nvPr/>
        </p:nvSpPr>
        <p:spPr>
          <a:xfrm>
            <a:off x="8423374" y="4196655"/>
            <a:ext cx="29019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MRR - Monthly Recurring Revenue (+10%)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8423374" y="4453830"/>
            <a:ext cx="290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</a:rPr>
              <a:t>Doanh Thu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8423374" y="5120580"/>
            <a:ext cx="29019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Free-to-Paid Conversion (Target: 3-5%)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8423374" y="5377755"/>
            <a:ext cx="290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</a:rPr>
              <a:t>Paid/Free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25" y="2479925"/>
            <a:ext cx="3492550" cy="415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25" y="2479925"/>
            <a:ext cx="3492550" cy="415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25" y="2479925"/>
            <a:ext cx="3492550" cy="4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</a:rPr>
              <a:t>Phiên Live Demo Hệ Thống</a:t>
            </a:r>
            <a:endParaRPr b="1"/>
          </a:p>
        </p:txBody>
      </p:sp>
      <p:sp>
        <p:nvSpPr>
          <p:cNvPr id="238" name="Google Shape;238;p18"/>
          <p:cNvSpPr txBox="1"/>
          <p:nvPr/>
        </p:nvSpPr>
        <p:spPr>
          <a:xfrm>
            <a:off x="2286000" y="1444500"/>
            <a:ext cx="7620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Thực hành trải nghiệm hệ thống API dưới cả 2 góc độ: Người dùng (Developer) và Người quản trị (Admin).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794150" y="3727321"/>
            <a:ext cx="3047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 A: Developer Journey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4572449" y="3727321"/>
            <a:ext cx="3047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 B: Admin Dashboard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8404040" y="3727321"/>
            <a:ext cx="294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 C: Developer Portal</a:t>
            </a:r>
            <a:endParaRPr/>
          </a:p>
        </p:txBody>
      </p:sp>
      <p:pic>
        <p:nvPicPr>
          <p:cNvPr descr="image.png" id="242" name="Google Shape;2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65225" y="295579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 txBox="1"/>
          <p:nvPr/>
        </p:nvSpPr>
        <p:spPr>
          <a:xfrm>
            <a:off x="866700" y="4546471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Sandbox test</a:t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866700" y="491601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866700" y="5020787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Cấp Key &amp; Gọi API</a:t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866700" y="5390327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866700" y="5495102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Test Feature Gating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866700" y="586464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866700" y="5969417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Upgrade Account</a:t>
            </a:r>
            <a:endParaRPr/>
          </a:p>
        </p:txBody>
      </p:sp>
      <p:pic>
        <p:nvPicPr>
          <p:cNvPr descr="image.png" id="250" name="Google Shape;2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3525" y="295579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 txBox="1"/>
          <p:nvPr/>
        </p:nvSpPr>
        <p:spPr>
          <a:xfrm>
            <a:off x="4644999" y="4546471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Theo dõi MRR trực tiếp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4644999" y="491601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4644999" y="5020787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Giám sát Error Rate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4644999" y="5390327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4644999" y="5495102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Lượng Calls theo Plan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4644999" y="586464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4644999" y="5969417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Top Endpoints Metrics</a:t>
            </a:r>
            <a:endParaRPr/>
          </a:p>
        </p:txBody>
      </p:sp>
      <p:pic>
        <p:nvPicPr>
          <p:cNvPr descr="image.png" id="258" name="Google Shape;25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21824" y="295579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 txBox="1"/>
          <p:nvPr/>
        </p:nvSpPr>
        <p:spPr>
          <a:xfrm>
            <a:off x="8423399" y="4546471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Giao diện Landing &amp; Pricing</a:t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8423399" y="491601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8423399" y="5020787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Chức năng Đăng ký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8423399" y="5390327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8423399" y="5495102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Quản lý Usage Dashboard</a:t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8423399" y="586464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8423399" y="5969417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Tích hợp Live Stats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866700" y="491601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866700" y="5390327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866700" y="586464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4644999" y="491601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4644999" y="5390327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4644999" y="586464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8423399" y="491601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8423399" y="5390327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8423399" y="5864642"/>
            <a:ext cx="2901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5" name="Google Shape;2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00" y="461790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00" y="5092224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00" y="556653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00" y="6040855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999" y="461790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999" y="5092224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999" y="556653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999" y="6040855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99" y="461790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99" y="5092224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99" y="556653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99" y="6040855"/>
            <a:ext cx="1047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</a:rPr>
              <a:t>Cấu trúc Developer Portal Chuẩn</a:t>
            </a:r>
            <a:endParaRPr b="1"/>
          </a:p>
        </p:txBody>
      </p:sp>
      <p:sp>
        <p:nvSpPr>
          <p:cNvPr id="292" name="Google Shape;292;p19"/>
          <p:cNvSpPr txBox="1"/>
          <p:nvPr/>
        </p:nvSpPr>
        <p:spPr>
          <a:xfrm>
            <a:off x="571500" y="178593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Một Portal hoàn chỉnh (như portal.html) cần có: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952500" y="2250727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Landing page: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Value proposition rõ ràng.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952500" y="2715517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Pricing page: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 sánh tier, Call-to-action mạnh.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952500" y="3180308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Quick start: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Lấy key và chạy được trong &lt; 2 phút.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952500" y="3645098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Sandbox: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Trải nghiệm trước khi cung cấp email.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952500" y="4109888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API Reference: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Swagger UI tương tác động.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952500" y="4574678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Usage dashboard: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Quản lý Quota, lịch sử API.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952500" y="503946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Changelog &amp; Support: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Kênh forum/email/slack.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571500" y="221262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571500" y="267741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571500" y="3142208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571500" y="3606998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571500" y="4071788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571500" y="4536578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571500" y="5001369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307" name="Google Shape;3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74540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39330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04120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668910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133701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98491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063281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2225" y="1783763"/>
            <a:ext cx="6029324" cy="3290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297" y="2446139"/>
            <a:ext cx="9143404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8912" y="4891980"/>
            <a:ext cx="6734175" cy="99625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 txBox="1"/>
          <p:nvPr/>
        </p:nvSpPr>
        <p:spPr>
          <a:xfrm>
            <a:off x="2791211" y="969764"/>
            <a:ext cx="660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</a:rPr>
              <a:t>Tổng kết &amp; Thảo luận</a:t>
            </a:r>
            <a:endParaRPr b="1"/>
          </a:p>
        </p:txBody>
      </p:sp>
      <p:sp>
        <p:nvSpPr>
          <p:cNvPr id="323" name="Google Shape;323;p20"/>
          <p:cNvSpPr txBox="1"/>
          <p:nvPr/>
        </p:nvSpPr>
        <p:spPr>
          <a:xfrm>
            <a:off x="2010072" y="2741414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API as a Product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4715172" y="2769989"/>
            <a:ext cx="19347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28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5099149" y="2741414"/>
            <a:ext cx="42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DX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5718274" y="2769989"/>
            <a:ext cx="19347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28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102250" y="2741414"/>
            <a:ext cx="2038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Monetization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8331100" y="2769989"/>
            <a:ext cx="19347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28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8715077" y="2741414"/>
            <a:ext cx="1466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Analytics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905150" y="3906700"/>
            <a:ext cx="838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"Quy tắc vàng: </a:t>
            </a:r>
            <a:r>
              <a:rPr b="1" i="1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Tối ưu cho Developer trước</a:t>
            </a:r>
            <a:r>
              <a:rPr b="0" i="1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doanh thu tự khắc theo sau."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2928937" y="5092005"/>
            <a:ext cx="6334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Câu hỏi thảo luận: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2928937" y="5413920"/>
            <a:ext cx="6334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Hệ thống API nhóm bạn đang xây dựng sẽ áp dụng 3 yếu tố này như thế nào?</a:t>
            </a:r>
            <a:endParaRPr/>
          </a:p>
        </p:txBody>
      </p:sp>
      <p:pic>
        <p:nvPicPr>
          <p:cNvPr descr="image.png" id="333" name="Google Shape;33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7312" y="5139630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